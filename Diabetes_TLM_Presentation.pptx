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Diabetes Mellitus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Teaching Learning Material for MBBS Students</a:t>
            </a:r>
          </a:p>
          <a:p>
            <a:r>
              <a:t>Comprehensive Guide with India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Definition &amp; Diagnostic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DEFINITION &amp; CRITERIA</a:t>
            </a:r>
          </a:p>
          <a:p>
            <a:pPr>
              <a:defRPr sz="1600"/>
            </a:pPr>
            <a:r>
              <a:t>• Type 1: Autoimmune β-cell destruction</a:t>
            </a:r>
          </a:p>
          <a:p>
            <a:pPr>
              <a:defRPr sz="1600"/>
            </a:pPr>
            <a:r>
              <a:t>• Type 2: Insulin resistance + β-cell failure</a:t>
            </a:r>
          </a:p>
          <a:p>
            <a:pPr>
              <a:defRPr sz="1600"/>
            </a:pPr>
            <a:r>
              <a:t>• Maturity-onset diabetes of young (MODY)</a:t>
            </a:r>
          </a:p>
          <a:p>
            <a:pPr>
              <a:defRPr sz="1600"/>
            </a:pPr>
            <a:r>
              <a:t>• Gestational diabetes mellitus</a:t>
            </a:r>
          </a:p>
          <a:p>
            <a:pPr>
              <a:defRPr sz="1600"/>
            </a:pPr>
            <a:r>
              <a:t>• Other specific types (drug-induced, genetic)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3886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DIAGNOSTIC CRITERIA</a:t>
            </a:r>
          </a:p>
          <a:p>
            <a:pPr>
              <a:defRPr sz="1600"/>
            </a:pPr>
            <a:r>
              <a:t>• Fasting Plasma Glucose (FPG): ≥126 mg/dL</a:t>
            </a:r>
          </a:p>
          <a:p>
            <a:pPr>
              <a:defRPr sz="1600"/>
            </a:pPr>
            <a:r>
              <a:t>• 2-hour Plasma Glucose (2hPG): ≥200 mg/dL</a:t>
            </a:r>
          </a:p>
          <a:p>
            <a:pPr>
              <a:defRPr sz="1600"/>
            </a:pPr>
            <a:r>
              <a:t>• Glycated Hemoglobin (HbA1c): ≥6.5%</a:t>
            </a:r>
          </a:p>
          <a:p>
            <a:pPr>
              <a:defRPr sz="1600"/>
            </a:pPr>
            <a:r>
              <a:t>• Random PG + symptoms: ≥200 mg/dL</a:t>
            </a:r>
          </a:p>
          <a:p>
            <a:pPr>
              <a:defRPr sz="1600"/>
            </a:pPr>
            <a:r>
              <a:t>• Asymptomatic: Confirmatory testing required</a:t>
            </a:r>
          </a:p>
          <a:p>
            <a:pPr>
              <a:defRPr sz="1600"/>
            </a:pPr>
            <a:r>
              <a:t>• ADA 2024 criteria with Indian adaptations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Epidemiology &amp; Disease Burden</a:t>
            </a:r>
          </a:p>
        </p:txBody>
      </p:sp>
      <p:pic>
        <p:nvPicPr>
          <p:cNvPr id="3" name="Picture 2" descr="epidemiolog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Global: 537M cases (2021) → 643M (2030)  • India: 101M cases • $966B healthcare cost • 6.7M annual deaths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Pathophysiology of Diabetes Mellitus</a:t>
            </a:r>
          </a:p>
        </p:txBody>
      </p:sp>
      <p:pic>
        <p:nvPicPr>
          <p:cNvPr id="3" name="Picture 2" descr="pathophysiology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• Type 1: Autoimmune β-cell destruction → Absolute insulin deficiency → Ketosis-prone • Type 2: Insulin resistance + β-cell failure → Relative insulin deficiency → Lifestyle modifiable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Risk Factors for Diabetes Mellitus</a:t>
            </a:r>
          </a:p>
        </p:txBody>
      </p:sp>
      <p:pic>
        <p:nvPicPr>
          <p:cNvPr id="3" name="Picture 2" descr="risk_facto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Diagnostic Criteria (ADA 2024)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9144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Diabetes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Prediabetes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Normal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FPG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≥126 mg/dL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100-125 mg/dL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&lt;100 mg/dL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2hPG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≥200 mg/dL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140-199 mg/dL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&lt;140 mg/dL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HbA1c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≥6.5%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5.7-6.4%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&lt;5.7%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Random PG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≥200 mg/dL + symptoms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ADA Treatment Algorithm (2024)</a:t>
            </a:r>
          </a:p>
        </p:txBody>
      </p:sp>
      <p:pic>
        <p:nvPicPr>
          <p:cNvPr id="3" name="Picture 2" descr="treatment_algorit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• Lifestyle + Metformin first-line • Individualize based on patient factors • DPP-4i, SGLT2i, GLP-1 RA for dual therapy • Insulin initiation when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Prevention of Diabetes Mellitus</a:t>
            </a:r>
          </a:p>
        </p:txBody>
      </p:sp>
      <p:pic>
        <p:nvPicPr>
          <p:cNvPr id="3" name="Picture 2" descr="prevention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• Primary: Prevent progression from prediabetes • Secondary: Lifestyle + metformin for prediabetes • Tertiary: Optimal management of established diabetes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Learning Objectives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3498DB"/>
                </a:solidFill>
              </a:defRPr>
            </a:pPr>
            <a:r>
              <a:t>LEARNING OBJECTIVES</a:t>
            </a:r>
          </a:p>
          <a:p>
            <a:pPr>
              <a:defRPr sz="1400"/>
            </a:pPr>
            <a:r>
              <a:t>• Master diabetes pathophysiology (T1DM vs T2DM)</a:t>
            </a:r>
          </a:p>
          <a:p>
            <a:pPr>
              <a:defRPr sz="1400"/>
            </a:pPr>
            <a:r>
              <a:t>• Apply ADA 2024 diagnostic criteria confidently</a:t>
            </a:r>
          </a:p>
          <a:p>
            <a:pPr>
              <a:defRPr sz="1400"/>
            </a:pPr>
            <a:r>
              <a:t>• Develop evidence-based treatment algorithms</a:t>
            </a:r>
          </a:p>
          <a:p>
            <a:pPr>
              <a:defRPr sz="1400"/>
            </a:pPr>
            <a:r>
              <a:t>• Understand India-specific epidemiological patterns</a:t>
            </a:r>
          </a:p>
          <a:p>
            <a:pPr>
              <a:defRPr sz="1400"/>
            </a:pPr>
            <a:r>
              <a:t>• Design comprehensive prevention strategies</a:t>
            </a:r>
          </a:p>
          <a:p>
            <a:pPr>
              <a:defRPr sz="1400"/>
            </a:pPr>
            <a:r>
              <a:t>• Recognize and manage complications</a:t>
            </a:r>
          </a:p>
          <a:p>
            <a:pPr>
              <a:defRPr sz="1400"/>
            </a:pPr>
            <a:r>
              <a:t>• Implement lifestyle interventions effectively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3886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2ECC71"/>
                </a:solidFill>
              </a:defRPr>
            </a:pPr>
            <a:r>
              <a:t>CLINICAL PEARLS</a:t>
            </a:r>
          </a:p>
          <a:p>
            <a:pPr>
              <a:defRPr sz="1400"/>
            </a:pPr>
            <a:r>
              <a:t>• Three P's: Polyuria, Polydipsia, Polyphagia</a:t>
            </a:r>
          </a:p>
          <a:p>
            <a:pPr>
              <a:defRPr sz="1400"/>
            </a:pPr>
            <a:r>
              <a:t>• Diabetes diagnostic: FPG≥126, 2hPG≥200, HbA1c≥6.5</a:t>
            </a:r>
          </a:p>
          <a:p>
            <a:pPr>
              <a:defRPr sz="1400"/>
            </a:pPr>
            <a:r>
              <a:t>• Lifestyle + metformin first-line therapy</a:t>
            </a:r>
          </a:p>
          <a:p>
            <a:pPr>
              <a:defRPr sz="1400"/>
            </a:pPr>
            <a:r>
              <a:t>• Individualize targets based on patient factors</a:t>
            </a:r>
          </a:p>
          <a:p>
            <a:pPr>
              <a:defRPr sz="1400"/>
            </a:pPr>
            <a:r>
              <a:t>• Prevention better than cure - focus on lifestyle</a:t>
            </a:r>
          </a:p>
          <a:p>
            <a:pPr>
              <a:defRPr sz="1400"/>
            </a:pPr>
            <a:r>
              <a:t>• Foot examination essential at every visit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