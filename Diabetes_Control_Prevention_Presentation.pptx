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47451" y="1395412"/>
            <a:ext cx="7772400" cy="1470025"/>
          </a:xfrm>
        </p:spPr>
        <p:txBody>
          <a:bodyPr/>
          <a:lstStyle/>
          <a:p>
            <a:pPr>
              <a:defRPr sz="3800" b="1">
                <a:solidFill>
                  <a:srgbClr val="2C3E50"/>
                </a:solidFill>
              </a:defRPr>
            </a:pPr>
            <a:r>
              <a:rPr dirty="0"/>
              <a:t>Diabetes Mellitus Control, Prevention &amp; National Programme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75703" y="3620729"/>
            <a:ext cx="6400800" cy="1752600"/>
          </a:xfrm>
        </p:spPr>
        <p:txBody>
          <a:bodyPr/>
          <a:lstStyle/>
          <a:p>
            <a:r>
              <a:rPr dirty="0"/>
              <a:t>Comprehensive Strategies for Diabetes Management in India</a:t>
            </a:r>
          </a:p>
          <a:p>
            <a:r>
              <a:rPr dirty="0"/>
              <a:t>MBBS Teaching Learning Material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Presentation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432" y="1600200"/>
            <a:ext cx="10884310" cy="4983162"/>
          </a:xfrm>
        </p:spPr>
        <p:txBody>
          <a:bodyPr>
            <a:normAutofit/>
          </a:bodyPr>
          <a:lstStyle/>
          <a:p>
            <a:pPr marL="0" indent="0">
              <a:buNone/>
              <a:defRPr sz="2000"/>
            </a:pPr>
            <a:r>
              <a:rPr sz="2800" dirty="0"/>
              <a:t>• Diabetes Control Strategies - Glycemic targets, monitoring, technology</a:t>
            </a:r>
          </a:p>
          <a:p>
            <a:pPr marL="0" indent="0">
              <a:buNone/>
              <a:defRPr sz="2000"/>
            </a:pPr>
            <a:r>
              <a:rPr sz="2800" dirty="0"/>
              <a:t>• Prevention Framework - Primary, secondary, and tertiary prevention</a:t>
            </a:r>
          </a:p>
          <a:p>
            <a:pPr marL="0" indent="0">
              <a:buNone/>
              <a:defRPr sz="2000"/>
            </a:pPr>
            <a:r>
              <a:rPr sz="2800" dirty="0"/>
              <a:t>• National Programme (NPCDCS) - India's diabetes control initiative</a:t>
            </a:r>
          </a:p>
          <a:p>
            <a:pPr marL="0" indent="0">
              <a:buNone/>
              <a:defRPr sz="2000"/>
            </a:pPr>
            <a:r>
              <a:rPr sz="2800" dirty="0"/>
              <a:t>• Implementation Strategies - Multidisciplinary approach</a:t>
            </a:r>
          </a:p>
          <a:p>
            <a:pPr marL="0" indent="0">
              <a:buNone/>
              <a:defRPr sz="2000"/>
            </a:pPr>
            <a:r>
              <a:rPr sz="2800" dirty="0"/>
              <a:t>• Evidence-based Interventions - Lifestyle, pharmacological, behavioral</a:t>
            </a:r>
          </a:p>
          <a:p>
            <a:pPr marL="0" indent="0">
              <a:buNone/>
              <a:defRPr sz="2000"/>
            </a:pPr>
            <a:r>
              <a:rPr sz="2800" dirty="0"/>
              <a:t>• Outcome Measures - Process and outcome indicators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Glycemic Control Targets (ADA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98DB"/>
                </a:solidFill>
              </a:defRPr>
            </a:pPr>
            <a:r>
              <a:rPr dirty="0"/>
              <a:t>GENERAL TARGETS</a:t>
            </a:r>
          </a:p>
          <a:p>
            <a:pPr>
              <a:defRPr sz="1600"/>
            </a:pPr>
            <a:r>
              <a:rPr dirty="0"/>
              <a:t>• HbA1c: &lt;7.0% (most adults)</a:t>
            </a:r>
          </a:p>
          <a:p>
            <a:pPr>
              <a:defRPr sz="1600"/>
            </a:pPr>
            <a:r>
              <a:rPr dirty="0"/>
              <a:t>• </a:t>
            </a:r>
            <a:r>
              <a:rPr dirty="0" err="1"/>
              <a:t>Preprandial</a:t>
            </a:r>
            <a:r>
              <a:rPr dirty="0"/>
              <a:t> glucose: 80-130 mg/dL</a:t>
            </a:r>
          </a:p>
          <a:p>
            <a:pPr>
              <a:defRPr sz="1600"/>
            </a:pPr>
            <a:r>
              <a:rPr dirty="0"/>
              <a:t>• Peak postprandial: &lt;180 mg/dL</a:t>
            </a:r>
          </a:p>
          <a:p>
            <a:pPr>
              <a:defRPr sz="1600"/>
            </a:pPr>
            <a:r>
              <a:rPr dirty="0"/>
              <a:t>• Bedtime glucose: 100-140 mg/dL</a:t>
            </a:r>
          </a:p>
          <a:p>
            <a:pPr>
              <a:defRPr sz="1600"/>
            </a:pPr>
            <a:r>
              <a:rPr dirty="0"/>
              <a:t>• TIR (Time in Range): &gt;70%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3886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CC71"/>
                </a:solidFill>
              </a:defRPr>
            </a:pPr>
            <a:r>
              <a:rPr dirty="0"/>
              <a:t>INDIVIDUALIZED TARGETS</a:t>
            </a:r>
          </a:p>
          <a:p>
            <a:pPr>
              <a:defRPr sz="1600"/>
            </a:pPr>
            <a:r>
              <a:rPr dirty="0"/>
              <a:t>• Young patients (&lt;40): HbA1c &lt;6.5-7.0%</a:t>
            </a:r>
          </a:p>
          <a:p>
            <a:pPr>
              <a:defRPr sz="1600"/>
            </a:pPr>
            <a:r>
              <a:rPr dirty="0"/>
              <a:t>• Elderly (≥65): HbA1c 7.5-8.0%</a:t>
            </a:r>
          </a:p>
          <a:p>
            <a:pPr>
              <a:defRPr sz="1600"/>
            </a:pPr>
            <a:r>
              <a:rPr dirty="0"/>
              <a:t>• Longstanding DM (&gt;10y): More liberal</a:t>
            </a:r>
          </a:p>
          <a:p>
            <a:pPr>
              <a:defRPr sz="1600"/>
            </a:pPr>
            <a:r>
              <a:rPr dirty="0"/>
              <a:t>• High CV risk: Stringent control</a:t>
            </a:r>
          </a:p>
          <a:p>
            <a:pPr>
              <a:defRPr sz="1600"/>
            </a:pPr>
            <a:r>
              <a:rPr dirty="0"/>
              <a:t>• Frequent hypoglycemia: Relaxed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06729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rPr sz="1600" dirty="0"/>
              <a:t>Key Considerations: Age, comorbidities, life expectancy, </a:t>
            </a:r>
            <a:r>
              <a:rPr sz="1600" dirty="0" err="1"/>
              <a:t>hypoglycmia</a:t>
            </a:r>
            <a:r>
              <a:rPr sz="1600" dirty="0"/>
              <a:t> risk, and patient preferences should guide target setting. SMBG/CGM data crucial for pattern management.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Diabetes Monitoring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98DB"/>
                </a:solidFill>
              </a:defRPr>
            </a:pPr>
            <a:r>
              <a:t>SELF-MONITORING OF BLOOD GLUCOSE</a:t>
            </a:r>
          </a:p>
          <a:p>
            <a:pPr>
              <a:defRPr sz="1400"/>
            </a:pPr>
            <a:r>
              <a:t>• Type 2 DM on oral agents: 1-2x daily</a:t>
            </a:r>
          </a:p>
          <a:p>
            <a:pPr>
              <a:defRPr sz="1400"/>
            </a:pPr>
            <a:r>
              <a:t>• Type 2 DM on insulin: 2-4x daily</a:t>
            </a:r>
          </a:p>
          <a:p>
            <a:pPr>
              <a:defRPr sz="1400"/>
            </a:pPr>
            <a:r>
              <a:t>• Type 1 DM: 4-6x daily (basal-bolus)</a:t>
            </a:r>
          </a:p>
          <a:p>
            <a:pPr>
              <a:defRPr sz="1400"/>
            </a:pPr>
            <a:r>
              <a:t>• Pre/postprandial monitoring essential</a:t>
            </a:r>
          </a:p>
          <a:p>
            <a:pPr>
              <a:defRPr sz="1400"/>
            </a:pPr>
            <a:r>
              <a:t>• Pattern recognition for dose adjustment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3886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B59B6"/>
                </a:solidFill>
              </a:defRPr>
            </a:pPr>
            <a:r>
              <a:t>CONTINUOUS GLUCOSE MONITORING</a:t>
            </a:r>
          </a:p>
          <a:p>
            <a:pPr>
              <a:defRPr sz="1400"/>
            </a:pPr>
            <a:r>
              <a:t>• TIR (&gt;70%): Primary outcome measure</a:t>
            </a:r>
          </a:p>
          <a:p>
            <a:pPr>
              <a:defRPr sz="1400"/>
            </a:pPr>
            <a:r>
              <a:t>• TBR (&lt;4%): Minimize hypoglycemia</a:t>
            </a:r>
          </a:p>
          <a:p>
            <a:pPr>
              <a:defRPr sz="1400"/>
            </a:pPr>
            <a:r>
              <a:t>• TAR (&lt;25%): Manage hyperglycemia</a:t>
            </a:r>
          </a:p>
          <a:p>
            <a:pPr>
              <a:defRPr sz="1400"/>
            </a:pPr>
            <a:r>
              <a:t>• Ambulatory Glucose Profile analysis</a:t>
            </a:r>
          </a:p>
          <a:p>
            <a:pPr>
              <a:defRPr sz="1400"/>
            </a:pPr>
            <a:r>
              <a:t>• Real-time vs. intermittently scanned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6576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HbA1c: Every 3-6 months (clinically meaningful change: 0.5%)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Levels of Diabetes Prevention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560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74C3C"/>
                </a:solidFill>
              </a:defRPr>
            </a:pPr>
            <a:r>
              <a:rPr dirty="0"/>
              <a:t>PRIMARY PREVENTION</a:t>
            </a:r>
          </a:p>
          <a:p>
            <a:r>
              <a:rPr dirty="0"/>
              <a:t>(Prevent Diabetes Onset)</a:t>
            </a:r>
          </a:p>
          <a:p>
            <a:pPr>
              <a:defRPr sz="1200"/>
            </a:pPr>
            <a:r>
              <a:rPr dirty="0"/>
              <a:t>• Target: High-risk individuals (prediabetes)</a:t>
            </a:r>
          </a:p>
          <a:p>
            <a:pPr>
              <a:defRPr sz="1200"/>
            </a:pPr>
            <a:r>
              <a:rPr dirty="0"/>
              <a:t>• DPP model: 58% incidence reduction</a:t>
            </a:r>
          </a:p>
          <a:p>
            <a:pPr>
              <a:defRPr sz="1200"/>
            </a:pPr>
            <a:r>
              <a:rPr dirty="0"/>
              <a:t>• Intensive lifestyle intervention</a:t>
            </a:r>
          </a:p>
          <a:p>
            <a:pPr>
              <a:defRPr sz="1200"/>
            </a:pPr>
            <a:r>
              <a:rPr dirty="0"/>
              <a:t>• 5-7% weight loss + 150 min/week activity</a:t>
            </a:r>
          </a:p>
          <a:p>
            <a:pPr>
              <a:defRPr sz="1200"/>
            </a:pPr>
            <a:r>
              <a:rPr dirty="0"/>
              <a:t>• Metformin in selected cases (BMI ≥35)</a:t>
            </a:r>
          </a:p>
          <a:p>
            <a:pPr>
              <a:defRPr sz="1200"/>
            </a:pPr>
            <a:r>
              <a:rPr dirty="0"/>
              <a:t>• Health promotion campaigns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097280"/>
            <a:ext cx="2560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39C12"/>
                </a:solidFill>
              </a:defRPr>
            </a:pPr>
            <a:r>
              <a:rPr dirty="0"/>
              <a:t>SECONDARY PREVENTION</a:t>
            </a:r>
          </a:p>
          <a:p>
            <a:r>
              <a:rPr dirty="0"/>
              <a:t>(Delay Progression)</a:t>
            </a:r>
          </a:p>
          <a:p>
            <a:pPr>
              <a:defRPr sz="1200"/>
            </a:pPr>
            <a:r>
              <a:rPr dirty="0"/>
              <a:t>• Target: Prediabetes management</a:t>
            </a:r>
          </a:p>
          <a:p>
            <a:pPr>
              <a:defRPr sz="1200"/>
            </a:pPr>
            <a:r>
              <a:rPr dirty="0"/>
              <a:t>• IFG: 100-125 mg/dL</a:t>
            </a:r>
          </a:p>
          <a:p>
            <a:pPr>
              <a:defRPr sz="1200"/>
            </a:pPr>
            <a:r>
              <a:rPr dirty="0"/>
              <a:t>• IGT: 140-199 mg/dL (2h PG)</a:t>
            </a:r>
          </a:p>
          <a:p>
            <a:pPr>
              <a:defRPr sz="1200"/>
            </a:pPr>
            <a:r>
              <a:rPr dirty="0"/>
              <a:t>• Lifestyle modification first-line</a:t>
            </a:r>
          </a:p>
          <a:p>
            <a:pPr>
              <a:defRPr sz="1200"/>
            </a:pPr>
            <a:r>
              <a:rPr dirty="0"/>
              <a:t>• Metformin optional (BMI ≥35)</a:t>
            </a:r>
          </a:p>
          <a:p>
            <a:pPr>
              <a:defRPr sz="1200"/>
            </a:pPr>
            <a:r>
              <a:rPr dirty="0"/>
              <a:t>• Annual monitoring for progression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2560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TERTIARY PREVENTION</a:t>
            </a:r>
          </a:p>
          <a:p>
            <a:r>
              <a:t>(Prevent Complications)</a:t>
            </a:r>
          </a:p>
          <a:p>
            <a:pPr>
              <a:defRPr sz="1200"/>
            </a:pPr>
            <a:r>
              <a:t>• Target: Established diabetes</a:t>
            </a:r>
          </a:p>
          <a:p>
            <a:pPr>
              <a:defRPr sz="1200"/>
            </a:pPr>
            <a:r>
              <a:t>• Optimal glycemic control</a:t>
            </a:r>
          </a:p>
          <a:p>
            <a:pPr>
              <a:defRPr sz="1200"/>
            </a:pPr>
            <a:r>
              <a:t>• Complication screening (annual)</a:t>
            </a:r>
          </a:p>
          <a:p>
            <a:pPr>
              <a:defRPr sz="1200"/>
            </a:pPr>
            <a:r>
              <a:t>• Cardiovascular risk management</a:t>
            </a:r>
          </a:p>
          <a:p>
            <a:pPr>
              <a:defRPr sz="1200"/>
            </a:pPr>
            <a:r>
              <a:t>• Multidisciplinary care approach</a:t>
            </a:r>
          </a:p>
          <a:p>
            <a:pPr>
              <a:defRPr sz="1200"/>
            </a:pPr>
            <a:r>
              <a:t>• Rehabilitation and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Diabetes Control Strategies Pyramid</a:t>
            </a:r>
          </a:p>
        </p:txBody>
      </p:sp>
      <p:pic>
        <p:nvPicPr>
          <p:cNvPr id="3" name="Picture 2" descr="control_strategies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709" y="100584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National Programme for Prevention &amp; Control of Diabetes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t>NPCDCS - Ministry of Health &amp; Family Welfare, India (2010-ongoing)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886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98DB"/>
                </a:solidFill>
              </a:defRPr>
            </a:pPr>
            <a:r>
              <a:t>KEY OBJECTIVES</a:t>
            </a:r>
          </a:p>
          <a:p>
            <a:pPr>
              <a:defRPr sz="1200"/>
            </a:pPr>
            <a:r>
              <a:t>• 25% reduction in premature mortality</a:t>
            </a:r>
          </a:p>
          <a:p>
            <a:pPr>
              <a:defRPr sz="1200"/>
            </a:pPr>
            <a:r>
              <a:t>• Early diagnosis and treatment</a:t>
            </a:r>
          </a:p>
          <a:p>
            <a:pPr>
              <a:defRPr sz="1200"/>
            </a:pPr>
            <a:r>
              <a:t>• Health promotion and prevention</a:t>
            </a:r>
          </a:p>
          <a:p>
            <a:pPr>
              <a:defRPr sz="1200"/>
            </a:pPr>
            <a:r>
              <a:t>• Capacity building of healthcare workers</a:t>
            </a:r>
          </a:p>
          <a:p>
            <a:pPr>
              <a:defRPr sz="1200"/>
            </a:pPr>
            <a:r>
              <a:t>• Improved quality of life for patients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188720"/>
            <a:ext cx="3886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t>PROGRAM COMPONENTS</a:t>
            </a:r>
          </a:p>
          <a:p>
            <a:pPr>
              <a:defRPr sz="1200"/>
            </a:pPr>
            <a:r>
              <a:t>• NCD clinics at district level</a:t>
            </a:r>
          </a:p>
          <a:p>
            <a:pPr>
              <a:defRPr sz="1200"/>
            </a:pPr>
            <a:r>
              <a:t>• Population-based screening</a:t>
            </a:r>
          </a:p>
          <a:p>
            <a:pPr>
              <a:defRPr sz="1200"/>
            </a:pPr>
            <a:r>
              <a:t>• Free diagnostic services</a:t>
            </a:r>
          </a:p>
          <a:p>
            <a:pPr>
              <a:defRPr sz="1200"/>
            </a:pPr>
            <a:r>
              <a:t>• Drug procurement &amp; distribution</a:t>
            </a:r>
          </a:p>
          <a:p>
            <a:pPr>
              <a:defRPr sz="1200"/>
            </a:pPr>
            <a:r>
              <a:t>• Health promotion activities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IMPLEMENTATION: National → State → District → Community (ASHA/ANM workers)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NPCDCS Implementation Framework</a:t>
            </a:r>
          </a:p>
        </p:txBody>
      </p:sp>
      <p:pic>
        <p:nvPicPr>
          <p:cNvPr id="3" name="Picture 2" descr="national_program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213" y="109728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C3E50"/>
                </a:solidFill>
              </a:defRPr>
            </a:pPr>
            <a:r>
              <a:t>Diet &amp; Physical Activity for Diabetes Control &amp; Prevention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98DB"/>
                </a:solidFill>
              </a:defRPr>
            </a:pPr>
            <a:r>
              <a:t>DIETARY RECOMMENDATIONS</a:t>
            </a:r>
          </a:p>
          <a:p>
            <a:pPr>
              <a:defRPr sz="1200"/>
            </a:pPr>
            <a:r>
              <a:t>• Mediterranean/DASH diets preferred</a:t>
            </a:r>
          </a:p>
          <a:p>
            <a:pPr>
              <a:defRPr sz="1200"/>
            </a:pPr>
            <a:r>
              <a:t>• Low glycemic index carbohydrates</a:t>
            </a:r>
          </a:p>
          <a:p>
            <a:pPr>
              <a:defRPr sz="1200"/>
            </a:pPr>
            <a:r>
              <a:t>• Increased fiber intake (25-30g/day)</a:t>
            </a:r>
          </a:p>
          <a:p>
            <a:pPr>
              <a:defRPr sz="1200"/>
            </a:pPr>
            <a:r>
              <a:t>• Plant-based proteins (pulses, legumes)</a:t>
            </a:r>
          </a:p>
          <a:p>
            <a:pPr>
              <a:defRPr sz="1200"/>
            </a:pPr>
            <a:r>
              <a:t>• Reduced saturated/trans fats (&lt;7% energy)</a:t>
            </a:r>
          </a:p>
          <a:p>
            <a:pPr>
              <a:defRPr sz="1200"/>
            </a:pPr>
            <a:r>
              <a:t>• Portion control and mindful eating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3886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9B59B6"/>
                </a:solidFill>
              </a:defRPr>
            </a:pPr>
            <a:r>
              <a:t>PHYSICAL ACTIVITY PRESCRIPTION</a:t>
            </a:r>
          </a:p>
          <a:p>
            <a:pPr>
              <a:defRPr sz="1200"/>
            </a:pPr>
            <a:r>
              <a:t>• 150 minutes/week moderate intensity</a:t>
            </a:r>
          </a:p>
          <a:p>
            <a:pPr>
              <a:defRPr sz="1200"/>
            </a:pPr>
            <a:r>
              <a:t>• Combination of aerobic + resistance training</a:t>
            </a:r>
          </a:p>
          <a:p>
            <a:pPr>
              <a:defRPr sz="1200"/>
            </a:pPr>
            <a:r>
              <a:t>• Yoga and flexibility exercises</a:t>
            </a:r>
          </a:p>
          <a:p>
            <a:pPr>
              <a:defRPr sz="1200"/>
            </a:pPr>
            <a:r>
              <a:t>• Walking/bicycling for commuting</a:t>
            </a:r>
          </a:p>
          <a:p>
            <a:pPr>
              <a:defRPr sz="1200"/>
            </a:pPr>
            <a:r>
              <a:t>• Sedentary behavior reduction</a:t>
            </a:r>
          </a:p>
          <a:p>
            <a:pPr>
              <a:defRPr sz="1200"/>
            </a:pPr>
            <a:r>
              <a:t>• Individualized based on fitness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Evidence: DPP trial showed 58% reduction in diabetes incidence with lifestyle intervention alone.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Challenges in Diabetes Control &amp; Prevention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74C3C"/>
                </a:solidFill>
              </a:defRPr>
            </a:pPr>
            <a:r>
              <a:t>KEY CHALLENGES</a:t>
            </a:r>
          </a:p>
          <a:p>
            <a:pPr>
              <a:defRPr sz="1200"/>
            </a:pPr>
            <a:r>
              <a:t>• Therapeutic inertia (delay in treatment intensification)</a:t>
            </a:r>
          </a:p>
          <a:p>
            <a:pPr>
              <a:defRPr sz="1200"/>
            </a:pPr>
            <a:r>
              <a:t>• Adherence to lifestyle changes long-term</a:t>
            </a:r>
          </a:p>
          <a:p>
            <a:pPr>
              <a:defRPr sz="1200"/>
            </a:pPr>
            <a:r>
              <a:t>• Hypoglycemia risk with intensive control</a:t>
            </a:r>
          </a:p>
          <a:p>
            <a:pPr>
              <a:defRPr sz="1200"/>
            </a:pPr>
            <a:r>
              <a:t>• Resource constraints in low-income settings</a:t>
            </a:r>
          </a:p>
          <a:p>
            <a:pPr>
              <a:defRPr sz="1200"/>
            </a:pPr>
            <a:r>
              <a:t>• Cultural and behavioral barriers</a:t>
            </a:r>
          </a:p>
          <a:p>
            <a:pPr>
              <a:defRPr sz="1200"/>
            </a:pPr>
            <a:r>
              <a:t>• Socioeconomic disparities in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97280"/>
            <a:ext cx="3886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STRATEGIC SOLUTIONS</a:t>
            </a:r>
          </a:p>
          <a:p>
            <a:pPr>
              <a:defRPr sz="1200"/>
            </a:pPr>
            <a:r>
              <a:t>• Regular treatment algorithm audits</a:t>
            </a:r>
          </a:p>
          <a:p>
            <a:pPr>
              <a:defRPr sz="1200"/>
            </a:pPr>
            <a:r>
              <a:t>• Behavioral support and counseling</a:t>
            </a:r>
          </a:p>
          <a:p>
            <a:pPr>
              <a:defRPr sz="1200"/>
            </a:pPr>
            <a:r>
              <a:t>• CGM-guided therapy adjustments</a:t>
            </a:r>
          </a:p>
          <a:p>
            <a:pPr>
              <a:defRPr sz="1200"/>
            </a:pPr>
            <a:r>
              <a:t>• Task shifting to trained non-physicians</a:t>
            </a:r>
          </a:p>
          <a:p>
            <a:pPr>
              <a:defRPr sz="1200"/>
            </a:pPr>
            <a:r>
              <a:t>• Culturally adapted health education</a:t>
            </a:r>
          </a:p>
          <a:p>
            <a:pPr>
              <a:defRPr sz="1200"/>
            </a:pPr>
            <a:r>
              <a:t>• Community-based peer support groups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Conclusion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498DB"/>
                </a:solidFill>
              </a:defRPr>
            </a:pPr>
            <a:r>
              <a:t>CONTROL STRATEGIES</a:t>
            </a:r>
          </a:p>
          <a:p>
            <a:pPr>
              <a:defRPr sz="1400"/>
            </a:pPr>
            <a:r>
              <a:t>• Individualized glycemic targets based on patient characteristics (age, comorbidities, hypoglycemia risk)</a:t>
            </a:r>
          </a:p>
          <a:p>
            <a:pPr>
              <a:defRPr sz="1400"/>
            </a:pPr>
            <a:r>
              <a:t>• Comprehensive monitoring: SMBG/CGM + HbA1c every 3-6 months</a:t>
            </a:r>
          </a:p>
          <a:p>
            <a:pPr>
              <a:defRPr sz="1400"/>
            </a:pPr>
            <a:r>
              <a:t>• Lifestyle intervention as foundation + metformin first-line pharmacological therapy</a:t>
            </a:r>
          </a:p>
          <a:p>
            <a:pPr>
              <a:defRPr sz="1400"/>
            </a:pPr>
            <a:r>
              <a:t>• Multidisciplinary team approach with regular complication screening</a:t>
            </a:r>
          </a:p>
          <a:p>
            <a:pPr>
              <a:defRPr sz="1400"/>
            </a:pPr>
            <a:r>
              <a:t>• Technology utilization (CGM, pumps) and behavioral support for optimal outcomes</a:t>
            </a:r>
          </a:p>
          <a:p>
            <a:pPr>
              <a:defRPr sz="2000" b="1">
                <a:solidFill>
                  <a:srgbClr val="2ECC71"/>
                </a:solidFill>
              </a:defRPr>
            </a:pPr>
            <a:r>
              <a:t>PREVENTION FRAMEWORK</a:t>
            </a:r>
          </a:p>
          <a:p>
            <a:pPr>
              <a:defRPr sz="1400"/>
            </a:pPr>
            <a:r>
              <a:t>• Primary prevention: DPP model (58% reduction) - lifestyle intervention for high-risk individuals</a:t>
            </a:r>
          </a:p>
          <a:p>
            <a:pPr>
              <a:defRPr sz="1400"/>
            </a:pPr>
            <a:r>
              <a:t>• Secondary prevention: Prediabetes management with lifestyle ± metformin</a:t>
            </a:r>
          </a:p>
          <a:p>
            <a:pPr>
              <a:defRPr sz="1400"/>
            </a:pPr>
            <a:r>
              <a:t>• Tertiary prevention: Optimal control and complication management in established diabetes</a:t>
            </a:r>
          </a:p>
          <a:p>
            <a:pPr>
              <a:defRPr sz="1400"/>
            </a:pPr>
            <a:r>
              <a:t>• Population-based approaches combined with high-risk individual strategies</a:t>
            </a:r>
          </a:p>
          <a:p>
            <a:pPr>
              <a:defRPr sz="2000" b="1">
                <a:solidFill>
                  <a:srgbClr val="9B59B6"/>
                </a:solidFill>
              </a:defRPr>
            </a:pPr>
            <a:r>
              <a:t>NATIONAL PROGRAMME (NPCDCS)</a:t>
            </a:r>
          </a:p>
          <a:p>
            <a:pPr>
              <a:defRPr sz="1400"/>
            </a:pPr>
            <a:r>
              <a:t>• Comprehensive government initiative for diabetes and NCD control</a:t>
            </a:r>
          </a:p>
          <a:p>
            <a:pPr>
              <a:defRPr sz="1400"/>
            </a:pPr>
            <a:r>
              <a:t>• Multi-level implementation: National → State → District → Community</a:t>
            </a:r>
          </a:p>
          <a:p>
            <a:pPr>
              <a:defRPr sz="1400"/>
            </a:pPr>
            <a:r>
              <a:t>• Key components: Screening, treatment, health promotion, capacity building</a:t>
            </a:r>
          </a:p>
          <a:p>
            <a:pPr>
              <a:defRPr sz="1400"/>
            </a:pPr>
            <a:r>
              <a:t>• Focus on prevention, early diagnosis, and comprehensive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884</Words>
  <Application>Microsoft Office PowerPoint</Application>
  <PresentationFormat>Custom</PresentationFormat>
  <Paragraphs>128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Diabetes Mellitus Control, Prevention &amp; National Programme</vt:lpstr>
      <vt:lpstr>Presentation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 Siddalingaiah H S</cp:lastModifiedBy>
  <cp:revision>2</cp:revision>
  <dcterms:created xsi:type="dcterms:W3CDTF">2013-01-27T09:14:16Z</dcterms:created>
  <dcterms:modified xsi:type="dcterms:W3CDTF">2025-11-18T18:24:05Z</dcterms:modified>
  <cp:category/>
</cp:coreProperties>
</file>