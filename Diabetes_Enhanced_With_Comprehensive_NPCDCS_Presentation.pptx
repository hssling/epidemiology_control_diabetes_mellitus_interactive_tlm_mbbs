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Diabetes Mellitus: Comprehensive Management &amp; NPCDCS Implementation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Epidemiology • Pathophysiology • Management • National Programme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10058400" cy="5486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DIABETES TLM OVERVIEW</a:t>
            </a:r>
          </a:p>
          <a:p/>
          <a:p>
            <a:r>
              <a:t>- Epidemiology &amp; Burden: Global trends, Indian statistics, 537M cases worldwide</a:t>
            </a:r>
          </a:p>
          <a:p>
            <a:r>
              <a:t>- Pathophysiology: Type 1 vs Type 2 DM mechanisms</a:t>
            </a:r>
          </a:p>
          <a:p>
            <a:r>
              <a:t>- Management: ADA 2024 algorithm, evidence-based therapies</a:t>
            </a:r>
          </a:p>
          <a:p>
            <a:r>
              <a:t>- Prevention: DPP model, lifestyle intervention (58% effectiveness)</a:t>
            </a:r>
          </a:p>
          <a:p>
            <a:r>
              <a:t>- NPCDCS: India's national programme implementation framework</a:t>
            </a:r>
          </a:p>
          <a:p/>
          <a:p>
            <a:r>
              <a:t>Created for medical education and training.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GLOBAL EPIDEMIOLOGY &amp; INDIAN CONTEXT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r>
              <a:t>GLOBAL STATISTICS:</a:t>
            </a:r>
          </a:p>
          <a:p>
            <a:r>
              <a:t>- 537 Million people with diabetes (2021)</a:t>
            </a:r>
          </a:p>
          <a:p>
            <a:r>
              <a:t>- 6.7 Million deaths annually</a:t>
            </a:r>
          </a:p>
          <a:p>
            <a:r>
              <a:t>- $966 Billion healthcare cost</a:t>
            </a:r>
          </a:p>
          <a:p/>
          <a:p>
            <a:r>
              <a:t>INDIAN CRISIS:</a:t>
            </a:r>
          </a:p>
          <a:p>
            <a:r>
              <a:t>- 101.2 Million cases (11.4% prevalence)</a:t>
            </a:r>
          </a:p>
          <a:p>
            <a:r>
              <a:t>- Second highest burden globally</a:t>
            </a:r>
          </a:p>
          <a:p>
            <a:r>
              <a:t>- 136 Million with prediabetes</a:t>
            </a:r>
          </a:p>
          <a:p>
            <a:r>
              <a:t>- Urban-rural ratio: 2:1</a:t>
            </a:r>
          </a:p>
          <a:p/>
          <a:p>
            <a:r>
              <a:t>HIGH-RISK STATES: Kerala (19.2%), Goa (17.8%), Punjab (14.8%)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DIABETES PREVENTION PROGRAM (DPP)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r>
              <a:t>EVIDENCE-BASED PREVENTION:</a:t>
            </a:r>
          </a:p>
          <a:p>
            <a:r>
              <a:t>- Intensive lifestyle intervention: 58% diabetes prevention</a:t>
            </a:r>
          </a:p>
          <a:p>
            <a:r>
              <a:t>- Metformin monotherapy: 31% reduction</a:t>
            </a:r>
          </a:p>
          <a:p>
            <a:r>
              <a:t>- Sustained benefits up to 10+ years</a:t>
            </a:r>
          </a:p>
          <a:p/>
          <a:p>
            <a:r>
              <a:t>NPCDCS INTEGRATION:</a:t>
            </a:r>
          </a:p>
          <a:p>
            <a:r>
              <a:t>- Community-based screening programs</a:t>
            </a:r>
          </a:p>
          <a:p>
            <a:r>
              <a:t>- Free essential medicines distribution</a:t>
            </a:r>
          </a:p>
          <a:p>
            <a:r>
              <a:t>- Health worker training and capacity building</a:t>
            </a:r>
          </a:p>
          <a:p>
            <a:r>
              <a:t>- Nationwide implementation across 697 districts</a:t>
            </a:r>
          </a:p>
          <a:p/>
          <a:p>
            <a:r>
              <a:t>KEY COMPONENTS:</a:t>
            </a:r>
          </a:p>
          <a:p>
            <a:r>
              <a:t>- Population screening and early detection</a:t>
            </a:r>
          </a:p>
          <a:p>
            <a:r>
              <a:t>- Pharmacological and lifestyle interventions</a:t>
            </a:r>
          </a:p>
          <a:p>
            <a:r>
              <a:t>- Referral systems and treatment monitoring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ADA 2024: DIABETES MANAGEMENT ALGORITHM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STEPWISE MANAGEMENT APPROACH:</a:t>
            </a:r>
          </a:p>
          <a:p/>
          <a:p>
            <a:r>
              <a:t>1. DIAGNOSIS: HbA1c &gt;=6.5% OR FPG &gt;=126 OR symptoms+RBG&gt;=200</a:t>
            </a:r>
          </a:p>
          <a:p>
            <a:r>
              <a:t>2. LIFESTYLE: Medical nutrition, 150 min/week physical activity</a:t>
            </a:r>
          </a:p>
          <a:p>
            <a:r>
              <a:t>3. METFORMIN FIRST-LINE: 500-1000 mg BID, monitor renal function</a:t>
            </a:r>
          </a:p>
          <a:p>
            <a:r>
              <a:t>4. ADD SECOND AGENT: Based on comorbidities</a:t>
            </a:r>
          </a:p>
          <a:p>
            <a:r>
              <a:t>   - CV disease: SGLT2 inhibitors (empagliflozin)</a:t>
            </a:r>
          </a:p>
          <a:p>
            <a:r>
              <a:t>   - Weight management: GLP-1 receptor agonists</a:t>
            </a:r>
          </a:p>
          <a:p>
            <a:r>
              <a:t>   - Hypoglycemia risk: DPP-4 inhibitors</a:t>
            </a:r>
          </a:p>
          <a:p>
            <a:r>
              <a:t>5. TRIPLE THERAPY: Three oral agents + insulin if HbA1c &gt;7%</a:t>
            </a:r>
          </a:p>
          <a:p>
            <a:r>
              <a:t>6. INSULIN INTENSIFICATION: Basal-bolus regimens, CGM-guided</a:t>
            </a:r>
          </a:p>
          <a:p/>
          <a:p>
            <a:r>
              <a:t>PHARMACOLOGY:</a:t>
            </a:r>
          </a:p>
          <a:p>
            <a:r>
              <a:t>- Metformin (weight neutral, CV benefits)</a:t>
            </a:r>
          </a:p>
          <a:p>
            <a:r>
              <a:t>- SGLT2i (cardiovascular/heart failure indication)</a:t>
            </a:r>
          </a:p>
          <a:p>
            <a:r>
              <a:t>- GLP-1 RA (superior weight loss, CV benefits)</a:t>
            </a:r>
          </a:p>
          <a:p>
            <a:r>
              <a:t>- DPP-4i (low hypoglycemia risk)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DIABETES MELLITUS: KNOWLEDGE TO ACTION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r>
              <a:t>ESSENTIAL TAKEAWAYS:</a:t>
            </a:r>
          </a:p>
          <a:p/>
          <a:p>
            <a:r>
              <a:t>1. GLOBAL BURDEN: 537M cases, India 101M, explosive growth in LMICs</a:t>
            </a:r>
          </a:p>
          <a:p>
            <a:r>
              <a:t>2. PATHOGENESIS: T1DM autoimmune destruction, T2DM insulin resistance + beta-cell failure</a:t>
            </a:r>
          </a:p>
          <a:p>
            <a:r>
              <a:t>3. MANAGEMENT: ADA 2024 algorithm, individualized targets, metformin first-line</a:t>
            </a:r>
          </a:p>
          <a:p>
            <a:r>
              <a:t>4. PREVENTION: DPP lifestyle model 58% effective, NPCDCS crucial</a:t>
            </a:r>
          </a:p>
          <a:p>
            <a:r>
              <a:t>5. SYSTEMS APPROACH: Multidisciplinary care, technology integration, community participation</a:t>
            </a:r>
          </a:p>
          <a:p/>
          <a:p>
            <a:r>
              <a:t>ACTION IMPERATIVES:</a:t>
            </a:r>
          </a:p>
          <a:p>
            <a:r>
              <a:t>- Universal screening at age 35+</a:t>
            </a:r>
          </a:p>
          <a:p>
            <a:r>
              <a:t>- DPP lifestyle intervention implementation</a:t>
            </a:r>
          </a:p>
          <a:p>
            <a:r>
              <a:t>- NPCDCS service expansion</a:t>
            </a:r>
          </a:p>
          <a:p>
            <a:r>
              <a:t>- Digital health integration</a:t>
            </a:r>
          </a:p>
          <a:p>
            <a:r>
              <a:t>- Prevention culture development</a:t>
            </a:r>
          </a:p>
          <a:p/>
          <a:p>
            <a:r>
              <a:t>Created by: Dr. Siddalingaiah H S</a:t>
            </a:r>
          </a:p>
          <a:p>
            <a:r>
              <a:t>Professor, Community Medicine</a:t>
            </a:r>
          </a:p>
          <a:p>
            <a:r>
              <a:t>Shridevi Institute of Medical Sciences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