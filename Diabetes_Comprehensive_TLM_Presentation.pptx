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80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66" d="100"/>
          <a:sy n="66" d="100"/>
        </p:scale>
        <p:origin x="1301" y="31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73931" y="1395412"/>
            <a:ext cx="10640961" cy="1752600"/>
          </a:xfrm>
        </p:spPr>
        <p:txBody>
          <a:bodyPr>
            <a:normAutofit/>
          </a:bodyPr>
          <a:lstStyle/>
          <a:p>
            <a:pPr>
              <a:defRPr sz="4400" b="1">
                <a:solidFill>
                  <a:srgbClr val="2C3E50"/>
                </a:solidFill>
              </a:defRPr>
            </a:pPr>
            <a:r>
              <a:rPr dirty="0"/>
              <a:t>Diabetes Mellitus: </a:t>
            </a:r>
            <a:r>
              <a:rPr lang="en-IN" dirty="0"/>
              <a:t>Epidemiology, Pathophysiology, Management &amp; Prevention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72580" y="3470787"/>
            <a:ext cx="6400800" cy="2802194"/>
          </a:xfrm>
        </p:spPr>
        <p:txBody>
          <a:bodyPr>
            <a:normAutofit lnSpcReduction="10000"/>
          </a:bodyPr>
          <a:lstStyle/>
          <a:p>
            <a:r>
              <a:rPr dirty="0"/>
              <a:t>MBBS </a:t>
            </a:r>
            <a:r>
              <a:rPr lang="en-US" dirty="0"/>
              <a:t>3</a:t>
            </a:r>
            <a:r>
              <a:rPr lang="en-US" baseline="30000" dirty="0"/>
              <a:t>rd</a:t>
            </a:r>
            <a:r>
              <a:rPr lang="en-US" dirty="0"/>
              <a:t> year</a:t>
            </a:r>
          </a:p>
          <a:p>
            <a:endParaRPr lang="en-US" dirty="0"/>
          </a:p>
          <a:p>
            <a:r>
              <a:rPr lang="en-US" dirty="0"/>
              <a:t>Dr Siddalingaiah H S</a:t>
            </a:r>
          </a:p>
          <a:p>
            <a:r>
              <a:rPr lang="en-US" dirty="0"/>
              <a:t>Professor, Community Medicine</a:t>
            </a:r>
          </a:p>
          <a:p>
            <a:r>
              <a:rPr lang="en-US" dirty="0"/>
              <a:t>SIMSRH, Tumkur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80884CF-0FB3-83A1-0B78-D06320684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3ADF-25D9-7A25-49CD-161A5C4BE8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665" y="666"/>
            <a:ext cx="12188825" cy="1143000"/>
          </a:xfrm>
        </p:spPr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lang="en-US" dirty="0"/>
              <a:t>Learning Objectives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E53DFE-2174-C14A-83EE-F7D65B8191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6866" y="1601531"/>
            <a:ext cx="11174360" cy="4887759"/>
          </a:xfrm>
        </p:spPr>
        <p:txBody>
          <a:bodyPr/>
          <a:lstStyle/>
          <a:p>
            <a:r>
              <a:rPr lang="en-US" dirty="0"/>
              <a:t>Define, diagnose, manage diabetes comprehensively</a:t>
            </a:r>
          </a:p>
          <a:p>
            <a:r>
              <a:rPr lang="en-US" dirty="0"/>
              <a:t>Apply evidence-based prevention strategies</a:t>
            </a:r>
          </a:p>
          <a:p>
            <a:r>
              <a:rPr lang="en-US" dirty="0"/>
              <a:t>Understand national </a:t>
            </a:r>
            <a:r>
              <a:rPr lang="en-US" dirty="0" err="1"/>
              <a:t>programmes</a:t>
            </a:r>
            <a:r>
              <a:rPr lang="en-US" dirty="0"/>
              <a:t> and future innovations</a:t>
            </a:r>
          </a:p>
          <a:p>
            <a:pPr marL="0" indent="0"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034375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" y="-665"/>
            <a:ext cx="12188825" cy="974059"/>
          </a:xfrm>
        </p:spPr>
        <p:txBody>
          <a:bodyPr/>
          <a:lstStyle/>
          <a:p>
            <a:pPr>
              <a:defRPr sz="3600" b="1">
                <a:solidFill>
                  <a:srgbClr val="2C3E50"/>
                </a:solidFill>
              </a:defRPr>
            </a:pPr>
            <a:r>
              <a:rPr dirty="0"/>
              <a:t>Comprehensive Diabetes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9315" y="1081549"/>
            <a:ext cx="11007213" cy="5584722"/>
          </a:xfrm>
        </p:spPr>
        <p:txBody>
          <a:bodyPr>
            <a:normAutofit/>
          </a:bodyPr>
          <a:lstStyle/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DEFINITION &amp; CLASSIFICATION - ADA/WHO Criteria 2024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GLOBAL EPIDEMIOLOGY - 537M cases, 11.3% prevalence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PATHOGENESIS - β-cell dysfunction, insulin resistance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CLINICAL FEATURES - Symptoms, complications spectrum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DIAGNOSIS - FPG, OGTT, HbA1c thresholds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MANAGEMENT - Lifestyle, pharmacological, technology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CONTROL STRATEGIES - Glycemic targets, monitoring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PREVENTION - DPP model, lifestyle intervention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NATIONAL PROGRAMME - NPCDCS implementation</a:t>
            </a:r>
          </a:p>
          <a:p>
            <a:pPr marL="0" indent="0">
              <a:buNone/>
              <a:defRPr sz="1800">
                <a:solidFill>
                  <a:srgbClr val="34495E"/>
                </a:solidFill>
              </a:defRPr>
            </a:pPr>
            <a:r>
              <a:rPr sz="2800" dirty="0"/>
              <a:t>• FUTURE DIRECTIONS - Precision medicine, AI, stem cells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2201"/>
            <a:ext cx="1218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3600" dirty="0"/>
              <a:t>Diabetes Mellitus: Definition &amp; Classification (ADA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6372" y="1005840"/>
            <a:ext cx="5778040" cy="3170099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sz="2800" dirty="0"/>
              <a:t>WORLD HEALTH ORGANIZATION DEFINITION</a:t>
            </a:r>
          </a:p>
          <a:p>
            <a:pPr>
              <a:defRPr sz="1200"/>
            </a:pPr>
            <a:r>
              <a:rPr sz="2400" dirty="0"/>
              <a:t>• Chronic hyperglycemia due to defects in:</a:t>
            </a:r>
          </a:p>
          <a:p>
            <a:pPr>
              <a:defRPr sz="1200"/>
            </a:pPr>
            <a:r>
              <a:rPr sz="2400" dirty="0"/>
              <a:t>  - Insulin secretion (β-cell dysfunction)</a:t>
            </a:r>
          </a:p>
          <a:p>
            <a:pPr>
              <a:defRPr sz="1200"/>
            </a:pPr>
            <a:r>
              <a:rPr sz="2400" dirty="0"/>
              <a:t>  - Insulin action (insulin resistance)</a:t>
            </a:r>
          </a:p>
          <a:p>
            <a:pPr>
              <a:defRPr sz="1200"/>
            </a:pPr>
            <a:r>
              <a:rPr sz="2400" dirty="0"/>
              <a:t>  - Both mechanisms</a:t>
            </a:r>
          </a:p>
          <a:p>
            <a:pPr>
              <a:defRPr sz="1200"/>
            </a:pPr>
            <a:r>
              <a:rPr sz="2400" dirty="0"/>
              <a:t>• Characterized by disturbances in:</a:t>
            </a:r>
          </a:p>
          <a:p>
            <a:pPr>
              <a:defRPr sz="1200"/>
            </a:pPr>
            <a:r>
              <a:rPr sz="2400" dirty="0"/>
              <a:t>  - Carbohydrate, fat, and protein metabolism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48462" y="989125"/>
            <a:ext cx="5589640" cy="323165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2ECC71"/>
                </a:solidFill>
              </a:defRPr>
            </a:pPr>
            <a:r>
              <a:rPr sz="2800" dirty="0"/>
              <a:t>ADA CLASSIFICATION SYSTEM</a:t>
            </a:r>
          </a:p>
          <a:p>
            <a:pPr>
              <a:defRPr sz="1200"/>
            </a:pPr>
            <a:r>
              <a:rPr sz="2200" dirty="0"/>
              <a:t>• Type 1 DM: Autoimmune β-cell destruction</a:t>
            </a:r>
          </a:p>
          <a:p>
            <a:pPr>
              <a:defRPr sz="1200"/>
            </a:pPr>
            <a:r>
              <a:rPr sz="2200" dirty="0"/>
              <a:t>• Type 2 DM: Insulin resistance + relative insulin deficiency</a:t>
            </a:r>
          </a:p>
          <a:p>
            <a:pPr>
              <a:defRPr sz="1200"/>
            </a:pPr>
            <a:r>
              <a:rPr sz="2200" dirty="0"/>
              <a:t>• Gestational DM: Glucose intolerance in pregnancy</a:t>
            </a:r>
          </a:p>
          <a:p>
            <a:pPr>
              <a:defRPr sz="1200"/>
            </a:pPr>
            <a:r>
              <a:rPr sz="2200" dirty="0"/>
              <a:t>• Other specific types: Monogenic, drug-induced, etc.</a:t>
            </a:r>
          </a:p>
          <a:p>
            <a:pPr>
              <a:defRPr sz="1200"/>
            </a:pPr>
            <a:r>
              <a:rPr sz="2200" dirty="0"/>
              <a:t>• Prediabetes: IFG, IGT, or both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96270" y="4666747"/>
            <a:ext cx="9596284" cy="1692771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rPr sz="2800" dirty="0"/>
              <a:t>HISTORICAL EVOLUTION: </a:t>
            </a:r>
            <a:endParaRPr lang="en-US" sz="2800" dirty="0"/>
          </a:p>
          <a:p>
            <a:pPr algn="ctr">
              <a:defRPr sz="1400" b="1">
                <a:solidFill>
                  <a:srgbClr val="2C3E50"/>
                </a:solidFill>
              </a:defRPr>
            </a:pPr>
            <a:endParaRPr lang="en-US" sz="2800" dirty="0"/>
          </a:p>
          <a:p>
            <a:pPr algn="ctr">
              <a:defRPr sz="1400" b="1">
                <a:solidFill>
                  <a:srgbClr val="2C3E50"/>
                </a:solidFill>
              </a:defRPr>
            </a:pPr>
            <a:r>
              <a:rPr sz="2400" dirty="0">
                <a:highlight>
                  <a:srgbClr val="FFFF00"/>
                </a:highlight>
              </a:rPr>
              <a:t>Ancient descriptions </a:t>
            </a:r>
            <a:r>
              <a:rPr sz="2400" dirty="0"/>
              <a:t>→</a:t>
            </a:r>
            <a:r>
              <a:rPr lang="en-US" sz="2400" dirty="0"/>
              <a:t> </a:t>
            </a:r>
            <a:r>
              <a:rPr sz="2400" dirty="0">
                <a:highlight>
                  <a:srgbClr val="FFFF00"/>
                </a:highlight>
              </a:rPr>
              <a:t>1921 Insulin discovery </a:t>
            </a:r>
            <a:r>
              <a:rPr sz="2400" dirty="0"/>
              <a:t>→ </a:t>
            </a:r>
            <a:r>
              <a:rPr sz="2400" dirty="0">
                <a:highlight>
                  <a:srgbClr val="FFFF00"/>
                </a:highlight>
              </a:rPr>
              <a:t>1950s Oral agents </a:t>
            </a:r>
            <a:r>
              <a:rPr sz="2400" dirty="0"/>
              <a:t>→ </a:t>
            </a:r>
            <a:endParaRPr lang="en-US" sz="2400" dirty="0"/>
          </a:p>
          <a:p>
            <a:pPr algn="ctr">
              <a:defRPr sz="1400" b="1">
                <a:solidFill>
                  <a:srgbClr val="2C3E50"/>
                </a:solidFill>
              </a:defRPr>
            </a:pPr>
            <a:r>
              <a:rPr sz="2400" dirty="0">
                <a:highlight>
                  <a:srgbClr val="FFFF00"/>
                </a:highlight>
              </a:rPr>
              <a:t>1980s HbA1c </a:t>
            </a:r>
            <a:r>
              <a:rPr sz="2400" dirty="0"/>
              <a:t>→ </a:t>
            </a:r>
            <a:r>
              <a:rPr sz="2400" dirty="0">
                <a:highlight>
                  <a:srgbClr val="FFFF00"/>
                </a:highlight>
              </a:rPr>
              <a:t>2020s CGM/Precision medicine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" y="-10815"/>
            <a:ext cx="12188824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3600" dirty="0"/>
              <a:t>Classification of Diabetes Mellitus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73626" y="1148409"/>
            <a:ext cx="2969342" cy="3416320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sz="2400" dirty="0"/>
              <a:t>TYPE 1 DM</a:t>
            </a:r>
          </a:p>
          <a:p>
            <a:r>
              <a:rPr sz="2400" dirty="0"/>
              <a:t>(5-10%)</a:t>
            </a:r>
          </a:p>
          <a:p>
            <a:pPr>
              <a:defRPr sz="1000"/>
            </a:pPr>
            <a:r>
              <a:rPr sz="2100" dirty="0"/>
              <a:t>• Age: Usually &lt;30 years</a:t>
            </a:r>
          </a:p>
          <a:p>
            <a:pPr>
              <a:defRPr sz="1000"/>
            </a:pPr>
            <a:r>
              <a:rPr sz="2100" dirty="0"/>
              <a:t>• Onset: Acute/rapid</a:t>
            </a:r>
          </a:p>
          <a:p>
            <a:pPr>
              <a:defRPr sz="1000"/>
            </a:pPr>
            <a:r>
              <a:rPr sz="2100" dirty="0"/>
              <a:t>• Autoantibodies: GAD, IA2</a:t>
            </a:r>
          </a:p>
          <a:p>
            <a:pPr>
              <a:defRPr sz="1000"/>
            </a:pPr>
            <a:r>
              <a:rPr sz="2100" dirty="0"/>
              <a:t>• C-peptide: Low/absent</a:t>
            </a:r>
          </a:p>
          <a:p>
            <a:pPr>
              <a:defRPr sz="1000"/>
            </a:pPr>
            <a:r>
              <a:rPr sz="2100" dirty="0"/>
              <a:t>• HLA association: DR3/4</a:t>
            </a:r>
          </a:p>
          <a:p>
            <a:pPr>
              <a:defRPr sz="1000"/>
            </a:pPr>
            <a:r>
              <a:rPr sz="2100" dirty="0"/>
              <a:t>• Complications: Ketoacidosis common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542405" y="1097280"/>
            <a:ext cx="2786620" cy="3600986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400" dirty="0"/>
              <a:t>TYPE 2 DM</a:t>
            </a:r>
          </a:p>
          <a:p>
            <a:r>
              <a:rPr sz="2400" dirty="0"/>
              <a:t>(90-95%)</a:t>
            </a:r>
          </a:p>
          <a:p>
            <a:pPr>
              <a:defRPr sz="1000"/>
            </a:pPr>
            <a:r>
              <a:rPr sz="2000" dirty="0"/>
              <a:t>• Age: Usually &gt;40 years</a:t>
            </a:r>
          </a:p>
          <a:p>
            <a:pPr>
              <a:defRPr sz="1000"/>
            </a:pPr>
            <a:r>
              <a:rPr sz="2000" dirty="0"/>
              <a:t>• Onset: Insidious/gradual</a:t>
            </a:r>
          </a:p>
          <a:p>
            <a:pPr>
              <a:defRPr sz="1000"/>
            </a:pPr>
            <a:r>
              <a:rPr sz="2000" dirty="0"/>
              <a:t>• Insulin resistance: Primary</a:t>
            </a:r>
          </a:p>
          <a:p>
            <a:pPr>
              <a:defRPr sz="1000"/>
            </a:pPr>
            <a:r>
              <a:rPr sz="2000" dirty="0"/>
              <a:t>• C-peptide: Initially normal</a:t>
            </a:r>
          </a:p>
          <a:p>
            <a:pPr>
              <a:defRPr sz="1000"/>
            </a:pPr>
            <a:r>
              <a:rPr sz="2000" dirty="0"/>
              <a:t>• Obesity: Common</a:t>
            </a:r>
          </a:p>
          <a:p>
            <a:pPr>
              <a:defRPr sz="1000"/>
            </a:pPr>
            <a:r>
              <a:rPr sz="2000" dirty="0"/>
              <a:t>• Family history: Strong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54852" y="1148409"/>
            <a:ext cx="2403383" cy="3600986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rPr sz="2400" dirty="0"/>
              <a:t>OTHER SPECIFIC TYPES</a:t>
            </a:r>
          </a:p>
          <a:p>
            <a:pPr>
              <a:defRPr sz="1000"/>
            </a:pPr>
            <a:r>
              <a:rPr sz="2000" dirty="0"/>
              <a:t>• MODY: Maturity onset</a:t>
            </a:r>
          </a:p>
          <a:p>
            <a:pPr>
              <a:defRPr sz="1000"/>
            </a:pPr>
            <a:r>
              <a:rPr sz="2000" dirty="0"/>
              <a:t>• LADA: Latent autoimmune</a:t>
            </a:r>
          </a:p>
          <a:p>
            <a:pPr>
              <a:defRPr sz="1000"/>
            </a:pPr>
            <a:r>
              <a:rPr sz="2000" dirty="0"/>
              <a:t>• Neonatal DM</a:t>
            </a:r>
          </a:p>
          <a:p>
            <a:pPr>
              <a:defRPr sz="1000"/>
            </a:pPr>
            <a:r>
              <a:rPr sz="2000" dirty="0"/>
              <a:t>• Drug-induced (steroids)</a:t>
            </a:r>
          </a:p>
          <a:p>
            <a:pPr>
              <a:defRPr sz="1000"/>
            </a:pPr>
            <a:r>
              <a:rPr sz="2000" dirty="0"/>
              <a:t>• Pancreatic diseases</a:t>
            </a:r>
          </a:p>
          <a:p>
            <a:pPr>
              <a:defRPr sz="1000"/>
            </a:pPr>
            <a:r>
              <a:rPr sz="2000" dirty="0"/>
              <a:t>• Genetic syndromes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57672" y="1097280"/>
            <a:ext cx="2639961" cy="360098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400" dirty="0"/>
              <a:t>GESTATIONAL &amp; PREDIABETES</a:t>
            </a:r>
          </a:p>
          <a:p>
            <a:pPr>
              <a:defRPr sz="1000"/>
            </a:pPr>
            <a:r>
              <a:rPr sz="2000" dirty="0"/>
              <a:t>• GDM: Pregnancy onset</a:t>
            </a:r>
          </a:p>
          <a:p>
            <a:pPr>
              <a:defRPr sz="1000"/>
            </a:pPr>
            <a:r>
              <a:rPr sz="2000" dirty="0"/>
              <a:t>• Prediabetes: IFG/IGT</a:t>
            </a:r>
          </a:p>
          <a:p>
            <a:pPr>
              <a:defRPr sz="1000"/>
            </a:pPr>
            <a:r>
              <a:rPr sz="2000" dirty="0"/>
              <a:t>• Risk of T2DM: High</a:t>
            </a:r>
          </a:p>
          <a:p>
            <a:pPr>
              <a:defRPr sz="1000"/>
            </a:pPr>
            <a:r>
              <a:rPr sz="2000" dirty="0"/>
              <a:t>• Screening: Universal</a:t>
            </a:r>
          </a:p>
          <a:p>
            <a:pPr>
              <a:defRPr sz="1000"/>
            </a:pPr>
            <a:r>
              <a:rPr sz="2000" dirty="0"/>
              <a:t>• Management: Lifestyle ± metformin</a:t>
            </a:r>
          </a:p>
          <a:p>
            <a:pPr>
              <a:defRPr sz="1000"/>
            </a:pPr>
            <a:r>
              <a:rPr sz="2000" dirty="0"/>
              <a:t>• Postpartum monitoring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Global Diabetes Epidemiology (IDF 2021)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2386" y="1097280"/>
            <a:ext cx="6201057" cy="3108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E74C3C"/>
                </a:solidFill>
              </a:defRPr>
            </a:pPr>
            <a:r>
              <a:rPr sz="2800" dirty="0"/>
              <a:t>GLOBAL BURDEN STATISTICS</a:t>
            </a:r>
          </a:p>
          <a:p>
            <a:pPr>
              <a:defRPr sz="1200" b="1"/>
            </a:pPr>
            <a:r>
              <a:rPr sz="2400" dirty="0"/>
              <a:t>• 537 MILLION adults with diabetes (2021)</a:t>
            </a:r>
          </a:p>
          <a:p>
            <a:pPr>
              <a:defRPr sz="1200" b="1"/>
            </a:pPr>
            <a:r>
              <a:rPr sz="2400" dirty="0"/>
              <a:t>• 1 in 10 adults affected worldwide</a:t>
            </a:r>
          </a:p>
          <a:p>
            <a:pPr>
              <a:defRPr sz="1200" b="1"/>
            </a:pPr>
            <a:r>
              <a:rPr sz="2400" dirty="0"/>
              <a:t>• 541 million in prediabetes stage</a:t>
            </a:r>
          </a:p>
          <a:p>
            <a:pPr>
              <a:defRPr sz="1200" b="1"/>
            </a:pPr>
            <a:r>
              <a:rPr sz="2400" dirty="0"/>
              <a:t>• 75% live in low- and middle-income countries</a:t>
            </a:r>
          </a:p>
          <a:p>
            <a:pPr>
              <a:defRPr sz="1200" b="1"/>
            </a:pPr>
            <a:r>
              <a:rPr sz="2400" dirty="0"/>
              <a:t>• 6.7 million deaths annually</a:t>
            </a:r>
          </a:p>
          <a:p>
            <a:pPr>
              <a:defRPr sz="1200" b="1"/>
            </a:pPr>
            <a:r>
              <a:rPr sz="2400" dirty="0"/>
              <a:t>• $966 billion healthcare expenditure</a:t>
            </a:r>
          </a:p>
          <a:p>
            <a:pPr>
              <a:defRPr sz="1200" b="1"/>
            </a:pPr>
            <a:r>
              <a:rPr sz="2400" dirty="0"/>
              <a:t>• Projected: 783 million by 2045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138220" y="1146125"/>
            <a:ext cx="4658711" cy="31085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rPr sz="2800" dirty="0"/>
              <a:t>REGIONAL PREVALENCE (%)</a:t>
            </a:r>
          </a:p>
          <a:p>
            <a:pPr>
              <a:defRPr sz="1200"/>
            </a:pPr>
            <a:r>
              <a:rPr sz="2400" dirty="0"/>
              <a:t>• Middle East &amp; North Africa: 14.0%</a:t>
            </a:r>
          </a:p>
          <a:p>
            <a:pPr>
              <a:defRPr sz="1200"/>
            </a:pPr>
            <a:r>
              <a:rPr sz="2400" dirty="0"/>
              <a:t>• North America: 11.7%</a:t>
            </a:r>
          </a:p>
          <a:p>
            <a:pPr>
              <a:defRPr sz="1200"/>
            </a:pPr>
            <a:r>
              <a:rPr sz="2400" dirty="0"/>
              <a:t>• South &amp; Central America: 9.9%</a:t>
            </a:r>
          </a:p>
          <a:p>
            <a:pPr>
              <a:defRPr sz="1200"/>
            </a:pPr>
            <a:r>
              <a:rPr sz="2400" dirty="0"/>
              <a:t>•</a:t>
            </a:r>
            <a:r>
              <a:rPr sz="2400" b="1" dirty="0"/>
              <a:t> South Asia: 8.8%</a:t>
            </a:r>
          </a:p>
          <a:p>
            <a:pPr>
              <a:defRPr sz="1200"/>
            </a:pPr>
            <a:r>
              <a:rPr sz="2400" dirty="0"/>
              <a:t>• East Asia &amp; Pacific: 8.4%</a:t>
            </a:r>
          </a:p>
          <a:p>
            <a:pPr>
              <a:defRPr sz="1200"/>
            </a:pPr>
            <a:r>
              <a:rPr sz="2400" dirty="0"/>
              <a:t>• Western Europe: 5.4%</a:t>
            </a:r>
          </a:p>
          <a:p>
            <a:pPr>
              <a:defRPr sz="1200"/>
            </a:pPr>
            <a:r>
              <a:rPr sz="2400" dirty="0"/>
              <a:t>• Sub-Saharan Africa: 3.3%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599" y="4600493"/>
            <a:ext cx="4513006" cy="19389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rPr sz="2400" dirty="0"/>
              <a:t>TREND: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400" dirty="0"/>
              <a:t>3-fold increase since 1980;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400" dirty="0"/>
              <a:t>Slowing growth in high-income countries;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400" dirty="0"/>
              <a:t>Rapid rise in LMICs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261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Diabetes Epidemiology in India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273278" y="1004803"/>
            <a:ext cx="5042278" cy="2739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7AE60"/>
                </a:solidFill>
              </a:defRPr>
            </a:pPr>
            <a:r>
              <a:rPr sz="2800" dirty="0"/>
              <a:t>INDIA DIABETES BURDEN (2021)</a:t>
            </a:r>
          </a:p>
          <a:p>
            <a:pPr>
              <a:defRPr sz="1200" b="1"/>
            </a:pPr>
            <a:r>
              <a:rPr sz="2400" dirty="0"/>
              <a:t>• 101.2 MILLION people with diabetes</a:t>
            </a:r>
          </a:p>
          <a:p>
            <a:pPr>
              <a:defRPr sz="1200" b="1"/>
            </a:pPr>
            <a:r>
              <a:rPr sz="2400" dirty="0"/>
              <a:t>• 11.4% prevalence (20-79 years)</a:t>
            </a:r>
          </a:p>
          <a:p>
            <a:pPr>
              <a:defRPr sz="1200" b="1"/>
            </a:pPr>
            <a:r>
              <a:rPr sz="2400" dirty="0"/>
              <a:t>• Second highest globally after China</a:t>
            </a:r>
          </a:p>
          <a:p>
            <a:pPr>
              <a:defRPr sz="1200" b="1"/>
            </a:pPr>
            <a:r>
              <a:rPr sz="2400" dirty="0"/>
              <a:t>• 136 million with prediabetes</a:t>
            </a:r>
          </a:p>
          <a:p>
            <a:pPr>
              <a:defRPr sz="1200" b="1"/>
            </a:pPr>
            <a:r>
              <a:rPr sz="2400" dirty="0"/>
              <a:t>• Annual cost: INR 2.5-3 lakh crores</a:t>
            </a:r>
          </a:p>
          <a:p>
            <a:pPr>
              <a:defRPr sz="1200" b="1"/>
            </a:pPr>
            <a:r>
              <a:rPr sz="2400" dirty="0"/>
              <a:t>• Projected: 140 million by 2030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44929" y="997565"/>
            <a:ext cx="5005345" cy="243143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>
            <a:defPPr>
              <a:defRPr lang="en-US"/>
            </a:defPPr>
            <a:lvl1pPr>
              <a:defRPr sz="2800" b="1">
                <a:solidFill>
                  <a:srgbClr val="27AE60"/>
                </a:solidFill>
              </a:defRPr>
            </a:lvl1pPr>
          </a:lstStyle>
          <a:p>
            <a:r>
              <a:rPr dirty="0"/>
              <a:t>REGIONAL VARIATIONS IN INDIA</a:t>
            </a:r>
          </a:p>
          <a:p>
            <a:r>
              <a:rPr sz="2400" dirty="0">
                <a:solidFill>
                  <a:schemeClr val="tx1"/>
                </a:solidFill>
              </a:rPr>
              <a:t>•</a:t>
            </a:r>
            <a:r>
              <a:rPr dirty="0">
                <a:solidFill>
                  <a:schemeClr val="tx1"/>
                </a:solidFill>
              </a:rPr>
              <a:t> </a:t>
            </a:r>
            <a:r>
              <a:rPr sz="2400" dirty="0">
                <a:solidFill>
                  <a:schemeClr val="tx1"/>
                </a:solidFill>
              </a:rPr>
              <a:t>Kerala, Punjab, Tamil Nadu: &gt;15%</a:t>
            </a:r>
          </a:p>
          <a:p>
            <a:r>
              <a:rPr sz="2400" dirty="0">
                <a:solidFill>
                  <a:schemeClr val="tx1"/>
                </a:solidFill>
              </a:rPr>
              <a:t>• Andhra Pradesh, Karnataka: 13-15%</a:t>
            </a:r>
          </a:p>
          <a:p>
            <a:r>
              <a:rPr sz="2400" dirty="0">
                <a:solidFill>
                  <a:schemeClr val="tx1"/>
                </a:solidFill>
              </a:rPr>
              <a:t>• Maharashtra, Gujarat: 10-13%</a:t>
            </a:r>
          </a:p>
          <a:p>
            <a:r>
              <a:rPr sz="2400" dirty="0">
                <a:solidFill>
                  <a:schemeClr val="tx1"/>
                </a:solidFill>
              </a:rPr>
              <a:t>• Rural areas: Lower prevalence</a:t>
            </a:r>
          </a:p>
          <a:p>
            <a:r>
              <a:rPr sz="2400" dirty="0">
                <a:solidFill>
                  <a:schemeClr val="tx1"/>
                </a:solidFill>
              </a:rPr>
              <a:t>• Urban-rural ratio: 2:1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12587" y="3796290"/>
            <a:ext cx="4259465" cy="267765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2C3E50"/>
                </a:solidFill>
              </a:defRPr>
            </a:pPr>
            <a:r>
              <a:rPr sz="2400" dirty="0"/>
              <a:t>KEY CONTRIBUTING FACTORS: 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400" dirty="0"/>
              <a:t>Urbanization</a:t>
            </a:r>
            <a:endParaRPr lang="en-US" sz="24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lang="en-US" sz="2400" dirty="0"/>
              <a:t>Lifestyle changes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lang="en-US" sz="2400" dirty="0"/>
              <a:t>Genetic predisposition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lang="en-US" sz="2400" dirty="0"/>
              <a:t>Low birth weight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lang="en-US" sz="2400" dirty="0"/>
              <a:t>Dietary transition</a:t>
            </a:r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lang="en-US" sz="2400" dirty="0"/>
              <a:t>Physical inactivity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38346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Diabetes Trends: Global vs India</a:t>
            </a:r>
          </a:p>
        </p:txBody>
      </p:sp>
      <p:pic>
        <p:nvPicPr>
          <p:cNvPr id="3" name="Picture 2" descr="epidemiology_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277" y="726932"/>
            <a:ext cx="11336594" cy="609272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8849"/>
            <a:ext cx="1218882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3600" dirty="0"/>
              <a:t>Pathophysiology of Diabetes Mellitus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81781" y="1118911"/>
            <a:ext cx="3313471" cy="427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NORMAL GLUCOSE METABOLISM</a:t>
            </a:r>
          </a:p>
          <a:p>
            <a:pPr>
              <a:defRPr sz="1100"/>
            </a:pPr>
            <a:r>
              <a:rPr sz="2400" dirty="0"/>
              <a:t>• Insulin secretion (β-cells)</a:t>
            </a:r>
          </a:p>
          <a:p>
            <a:pPr>
              <a:defRPr sz="1100"/>
            </a:pPr>
            <a:r>
              <a:rPr sz="2400" dirty="0"/>
              <a:t>• Insulin action (target tissues)</a:t>
            </a:r>
          </a:p>
          <a:p>
            <a:pPr>
              <a:defRPr sz="1100"/>
            </a:pPr>
            <a:r>
              <a:rPr sz="2400" dirty="0"/>
              <a:t>• Glucose uptake (GLUT4 translocation)</a:t>
            </a:r>
          </a:p>
          <a:p>
            <a:pPr>
              <a:defRPr sz="1100"/>
            </a:pPr>
            <a:r>
              <a:rPr sz="2400" dirty="0"/>
              <a:t>• Glycogen synthesis</a:t>
            </a:r>
          </a:p>
          <a:p>
            <a:pPr>
              <a:defRPr sz="1100"/>
            </a:pPr>
            <a:r>
              <a:rPr sz="2400" dirty="0"/>
              <a:t>• Gluconeogenesis suppression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64619" y="1113012"/>
            <a:ext cx="3898737" cy="42780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sz="2800" dirty="0"/>
              <a:t>TYPE 1 DM PATHOGENESIS</a:t>
            </a:r>
          </a:p>
          <a:p>
            <a:pPr>
              <a:defRPr sz="1100"/>
            </a:pPr>
            <a:r>
              <a:rPr sz="2400" dirty="0"/>
              <a:t>• Autoimmune destruction of β-cells</a:t>
            </a:r>
          </a:p>
          <a:p>
            <a:pPr>
              <a:defRPr sz="1100"/>
            </a:pPr>
            <a:r>
              <a:rPr sz="2400" dirty="0"/>
              <a:t>• Genetic susceptibility (HLA-DR3/4)</a:t>
            </a:r>
          </a:p>
          <a:p>
            <a:pPr>
              <a:defRPr sz="1100"/>
            </a:pPr>
            <a:r>
              <a:rPr sz="2400" dirty="0"/>
              <a:t>• Environmental triggers (virus?)</a:t>
            </a:r>
          </a:p>
          <a:p>
            <a:pPr>
              <a:defRPr sz="1100"/>
            </a:pPr>
            <a:r>
              <a:rPr sz="2400" dirty="0"/>
              <a:t>• Insulitis → absolute insulin deficiency</a:t>
            </a:r>
          </a:p>
          <a:p>
            <a:pPr>
              <a:defRPr sz="1100"/>
            </a:pPr>
            <a:r>
              <a:rPr sz="2400" dirty="0"/>
              <a:t>• Ketoacidosis risk high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2724" y="1113012"/>
            <a:ext cx="3254476" cy="4278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TYPE 2 DM PATHOGENESIS</a:t>
            </a:r>
          </a:p>
          <a:p>
            <a:pPr>
              <a:defRPr sz="1100"/>
            </a:pPr>
            <a:r>
              <a:rPr sz="2400" dirty="0"/>
              <a:t>• Insulin resistance (primary defect)</a:t>
            </a:r>
          </a:p>
          <a:p>
            <a:pPr>
              <a:defRPr sz="1100"/>
            </a:pPr>
            <a:r>
              <a:rPr sz="2400" dirty="0"/>
              <a:t>• β-cell dysfunction (secondary)</a:t>
            </a:r>
          </a:p>
          <a:p>
            <a:pPr>
              <a:defRPr sz="1100"/>
            </a:pPr>
            <a:r>
              <a:rPr sz="2400" dirty="0"/>
              <a:t>• Increased gluconeogenesis</a:t>
            </a:r>
          </a:p>
          <a:p>
            <a:pPr>
              <a:defRPr sz="1100"/>
            </a:pPr>
            <a:r>
              <a:rPr sz="2400" dirty="0"/>
              <a:t>• Decreased insulin secretion</a:t>
            </a:r>
          </a:p>
          <a:p>
            <a:pPr>
              <a:defRPr sz="1100"/>
            </a:pPr>
            <a:r>
              <a:rPr sz="2400" dirty="0"/>
              <a:t>• Chronic inflammation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Molecular Mechanisms in Diabetes Pathogenesis</a:t>
            </a:r>
          </a:p>
        </p:txBody>
      </p:sp>
      <p:pic>
        <p:nvPicPr>
          <p:cNvPr id="3" name="Picture 2" descr="pathophysiology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7522" y="786581"/>
            <a:ext cx="10117393" cy="602788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Risk Factors for Diabetes Mellitus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1832" y="998957"/>
            <a:ext cx="3406878" cy="427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sz="2800" dirty="0"/>
              <a:t>NON-MODIFIABLE RISK FACTORS</a:t>
            </a:r>
          </a:p>
          <a:p>
            <a:pPr>
              <a:defRPr sz="1100"/>
            </a:pPr>
            <a:r>
              <a:rPr sz="2400" dirty="0"/>
              <a:t>• Age &gt;45 years</a:t>
            </a:r>
          </a:p>
          <a:p>
            <a:pPr>
              <a:defRPr sz="1100"/>
            </a:pPr>
            <a:r>
              <a:rPr sz="2400" dirty="0"/>
              <a:t>• Family history (first-degree)</a:t>
            </a:r>
          </a:p>
          <a:p>
            <a:pPr>
              <a:defRPr sz="1100"/>
            </a:pPr>
            <a:r>
              <a:rPr sz="2400" dirty="0"/>
              <a:t>• Genetics (T2DM: polygenic)</a:t>
            </a:r>
          </a:p>
          <a:p>
            <a:pPr>
              <a:defRPr sz="1100"/>
            </a:pPr>
            <a:r>
              <a:rPr sz="2400" dirty="0"/>
              <a:t>• Ethnicity (South Asians high risk)</a:t>
            </a:r>
          </a:p>
          <a:p>
            <a:pPr>
              <a:defRPr sz="1100"/>
            </a:pPr>
            <a:r>
              <a:rPr sz="2400" dirty="0"/>
              <a:t>• Previous GDM</a:t>
            </a:r>
          </a:p>
          <a:p>
            <a:pPr>
              <a:defRPr sz="1100"/>
            </a:pPr>
            <a:r>
              <a:rPr sz="2400" dirty="0"/>
              <a:t>• Low birth weight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85187" y="1010756"/>
            <a:ext cx="4129548" cy="4278094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MODIFIABLE LIFESTYLE FACTORS</a:t>
            </a:r>
          </a:p>
          <a:p>
            <a:pPr>
              <a:defRPr sz="1100"/>
            </a:pPr>
            <a:r>
              <a:rPr sz="2400" dirty="0"/>
              <a:t>• Obesity (BMI &gt;25 kg/m²)</a:t>
            </a:r>
          </a:p>
          <a:p>
            <a:pPr>
              <a:defRPr sz="1100"/>
            </a:pPr>
            <a:r>
              <a:rPr sz="2400" dirty="0"/>
              <a:t>• Central obesity (waist ≥90cm M, ≥80cm F)</a:t>
            </a:r>
          </a:p>
          <a:p>
            <a:pPr>
              <a:defRPr sz="1100"/>
            </a:pPr>
            <a:r>
              <a:rPr sz="2400" dirty="0"/>
              <a:t>• Physical inactivity (&lt;150 min/week)</a:t>
            </a:r>
          </a:p>
          <a:p>
            <a:pPr>
              <a:defRPr sz="1100"/>
            </a:pPr>
            <a:r>
              <a:rPr sz="2400" dirty="0"/>
              <a:t>• Unhealthy diet (high refined carbs)</a:t>
            </a:r>
          </a:p>
          <a:p>
            <a:pPr>
              <a:defRPr sz="1100"/>
            </a:pPr>
            <a:r>
              <a:rPr sz="2400" dirty="0"/>
              <a:t>• Smoking and alcohol excess</a:t>
            </a:r>
          </a:p>
          <a:p>
            <a:pPr>
              <a:defRPr sz="1100"/>
            </a:pPr>
            <a:r>
              <a:rPr sz="2400" dirty="0"/>
              <a:t>• Sleep deprivation (&lt;7 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58031" y="1010756"/>
            <a:ext cx="2925814" cy="4278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MEDICAL CONDITIONS</a:t>
            </a:r>
          </a:p>
          <a:p>
            <a:pPr>
              <a:defRPr sz="1100"/>
            </a:pPr>
            <a:r>
              <a:rPr sz="2400" dirty="0"/>
              <a:t>• Polycystic ovary syndrome</a:t>
            </a:r>
          </a:p>
          <a:p>
            <a:pPr>
              <a:defRPr sz="1100"/>
            </a:pPr>
            <a:r>
              <a:rPr sz="2400" dirty="0"/>
              <a:t>• Metabolic syndrome</a:t>
            </a:r>
          </a:p>
          <a:p>
            <a:pPr>
              <a:defRPr sz="1100"/>
            </a:pPr>
            <a:r>
              <a:rPr sz="2400" dirty="0"/>
              <a:t>• Hypertension</a:t>
            </a:r>
          </a:p>
          <a:p>
            <a:pPr>
              <a:defRPr sz="1100"/>
            </a:pPr>
            <a:r>
              <a:rPr sz="2400" dirty="0"/>
              <a:t>• Dyslipidemia</a:t>
            </a:r>
          </a:p>
          <a:p>
            <a:pPr>
              <a:defRPr sz="1100"/>
            </a:pPr>
            <a:r>
              <a:rPr sz="2400" dirty="0"/>
              <a:t>• NAFLD</a:t>
            </a:r>
          </a:p>
          <a:p>
            <a:pPr>
              <a:defRPr sz="1100"/>
            </a:pPr>
            <a:r>
              <a:rPr sz="2400" dirty="0"/>
              <a:t>• Psychiatric disorders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0440" y="5453556"/>
            <a:ext cx="1117118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>
                <a:highlight>
                  <a:srgbClr val="FFFF00"/>
                </a:highlight>
              </a:rPr>
              <a:t>INDIAN DIABETES RISK SCORE (IDRS): Age + BMI + Waist + FH + Activity</a:t>
            </a:r>
            <a:r>
              <a:rPr sz="2400" dirty="0"/>
              <a:t>. </a:t>
            </a:r>
            <a:endParaRPr lang="en-US" sz="2400" dirty="0"/>
          </a:p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>
                <a:highlight>
                  <a:srgbClr val="FFFF00"/>
                </a:highlight>
              </a:rPr>
              <a:t>Score ≥60 = High risk. </a:t>
            </a:r>
            <a:endParaRPr lang="en-US" sz="2400" dirty="0">
              <a:highlight>
                <a:srgbClr val="FFFF00"/>
              </a:highlight>
            </a:endParaRPr>
          </a:p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>
                <a:highlight>
                  <a:srgbClr val="FFFF00"/>
                </a:highlight>
              </a:rPr>
              <a:t>Validated for Asian Indians.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Risk Factor Interactions &amp; Prevention Opportunities</a:t>
            </a:r>
          </a:p>
        </p:txBody>
      </p:sp>
      <p:pic>
        <p:nvPicPr>
          <p:cNvPr id="3" name="Picture 2" descr="risk_factor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097280"/>
            <a:ext cx="10456606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Clinical Features of Diabetes Mellitus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68594" y="828312"/>
            <a:ext cx="3549445" cy="427809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sz="2800" dirty="0"/>
              <a:t>CLASSIC SYMPTOMS (3P's)</a:t>
            </a:r>
          </a:p>
          <a:p>
            <a:pPr>
              <a:defRPr sz="1100"/>
            </a:pPr>
            <a:r>
              <a:rPr sz="2400" dirty="0"/>
              <a:t>• Polyuria (increased urination)</a:t>
            </a:r>
          </a:p>
          <a:p>
            <a:pPr>
              <a:defRPr sz="1100"/>
            </a:pPr>
            <a:r>
              <a:rPr sz="2400" dirty="0"/>
              <a:t>• Polydipsia (increased thirst)</a:t>
            </a:r>
          </a:p>
          <a:p>
            <a:pPr>
              <a:defRPr sz="1100"/>
            </a:pPr>
            <a:r>
              <a:rPr sz="2400" dirty="0"/>
              <a:t>• Polyphagia (increased hunger)</a:t>
            </a:r>
          </a:p>
          <a:p>
            <a:pPr>
              <a:defRPr sz="1100"/>
            </a:pPr>
            <a:r>
              <a:rPr sz="2400" dirty="0"/>
              <a:t>• Unexplained weight loss</a:t>
            </a:r>
          </a:p>
          <a:p>
            <a:pPr>
              <a:defRPr sz="1100"/>
            </a:pPr>
            <a:r>
              <a:rPr sz="2400" dirty="0"/>
              <a:t>• Fatigue and weakness</a:t>
            </a:r>
          </a:p>
          <a:p>
            <a:pPr>
              <a:defRPr sz="1100"/>
            </a:pPr>
            <a:r>
              <a:rPr sz="2400" dirty="0"/>
              <a:t>• Blurred vision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99819" y="855625"/>
            <a:ext cx="3673334" cy="4278094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ASYMPTOMATIC PRESENTATION</a:t>
            </a:r>
          </a:p>
          <a:p>
            <a:pPr>
              <a:defRPr sz="1100"/>
            </a:pPr>
            <a:r>
              <a:rPr sz="2400" dirty="0"/>
              <a:t>• Routine screening detection</a:t>
            </a:r>
          </a:p>
          <a:p>
            <a:pPr>
              <a:defRPr sz="1100"/>
            </a:pPr>
            <a:r>
              <a:rPr sz="2400" dirty="0"/>
              <a:t>• Incidental hyperglycemia</a:t>
            </a:r>
          </a:p>
          <a:p>
            <a:pPr>
              <a:defRPr sz="1100"/>
            </a:pPr>
            <a:r>
              <a:rPr sz="2400" dirty="0"/>
              <a:t>• Complications presentation</a:t>
            </a:r>
          </a:p>
          <a:p>
            <a:pPr>
              <a:defRPr sz="1100"/>
            </a:pPr>
            <a:r>
              <a:rPr sz="2400" dirty="0"/>
              <a:t>• Associated conditions</a:t>
            </a:r>
          </a:p>
          <a:p>
            <a:pPr>
              <a:defRPr sz="1100"/>
            </a:pPr>
            <a:r>
              <a:rPr sz="2400" dirty="0"/>
              <a:t>• Type 2 DM common pattern</a:t>
            </a:r>
          </a:p>
          <a:p>
            <a:pPr>
              <a:defRPr sz="1100"/>
            </a:pPr>
            <a:r>
              <a:rPr sz="2400" dirty="0"/>
              <a:t>• Delayed diagnosis risks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32723" y="892807"/>
            <a:ext cx="3449157" cy="427809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rPr sz="2800" dirty="0"/>
              <a:t>PHYSICAL EXAMINATION</a:t>
            </a:r>
          </a:p>
          <a:p>
            <a:pPr>
              <a:defRPr sz="1100"/>
            </a:pPr>
            <a:r>
              <a:rPr sz="2400" dirty="0"/>
              <a:t>• BMI and waist circumference</a:t>
            </a:r>
          </a:p>
          <a:p>
            <a:pPr>
              <a:defRPr sz="1100"/>
            </a:pPr>
            <a:r>
              <a:rPr sz="2400" dirty="0"/>
              <a:t>• Blood pressure measurement</a:t>
            </a:r>
          </a:p>
          <a:p>
            <a:pPr>
              <a:defRPr sz="1100"/>
            </a:pPr>
            <a:r>
              <a:rPr sz="2400" dirty="0"/>
              <a:t>• Signs of dehydration</a:t>
            </a:r>
          </a:p>
          <a:p>
            <a:pPr>
              <a:defRPr sz="1100"/>
            </a:pPr>
            <a:r>
              <a:rPr sz="2400" dirty="0"/>
              <a:t>• Insulin resistance markers</a:t>
            </a:r>
          </a:p>
          <a:p>
            <a:pPr>
              <a:defRPr sz="1100"/>
            </a:pPr>
            <a:r>
              <a:rPr sz="2400" dirty="0"/>
              <a:t>• Foot examination</a:t>
            </a:r>
          </a:p>
          <a:p>
            <a:pPr>
              <a:defRPr sz="1100"/>
            </a:pPr>
            <a:r>
              <a:rPr sz="2400" dirty="0"/>
              <a:t>• Oral health assessment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539134"/>
            <a:ext cx="11358716" cy="1200329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/>
              <a:t>DIFFERENTIAL PRESENTATION: T1DM often acute with DKA risk; T2DM usually insidious with complications; GDM detected during pregnancy screening; MODY may present with mild symptoms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Diagnosis of Diabetes Mellitus (ADA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16078" y="890803"/>
            <a:ext cx="5090881" cy="40053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3498DB"/>
                </a:solidFill>
              </a:defRPr>
            </a:pPr>
            <a:r>
              <a:rPr sz="2800" dirty="0"/>
              <a:t>DIAGNOSTIC THRESHOLDS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HbA1c ≥ 6.5% (NGSP certified)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FPG ≥ 126 mg/dL (8.0 mmol/L)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2h-PG ≥ 200 mg/dL (11.1 mmol/L)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Random PG ≥ 200 mg/dL + symptoms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OGTT: 75g glucose load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Repeat testing for confirmation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371304" y="896703"/>
            <a:ext cx="5001444" cy="40053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600" b="1">
                <a:solidFill>
                  <a:srgbClr val="2ECC71"/>
                </a:solidFill>
              </a:defRPr>
            </a:pPr>
            <a:r>
              <a:rPr sz="2800" dirty="0"/>
              <a:t>PREDIABETES CRITERIA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IFG: FPG 100-125 mg/dL </a:t>
            </a:r>
            <a:endParaRPr lang="en-US" sz="2400" dirty="0"/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IGT: 2h-PG 140-199 mg/dL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HbA1c 5.7-6.4% (may be included)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High risk for T2DM progression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Requires lifestyle intervention</a:t>
            </a:r>
          </a:p>
          <a:p>
            <a:pPr>
              <a:lnSpc>
                <a:spcPct val="150000"/>
              </a:lnSpc>
              <a:defRPr sz="1200"/>
            </a:pPr>
            <a:r>
              <a:rPr sz="2400" dirty="0"/>
              <a:t>• Annual monitoring recommended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4101" y="5799778"/>
            <a:ext cx="11100619" cy="83099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/>
              <a:t>SPECIAL SITUATIONS: Pregnancy (IADPSG criteria), children (pediatric thresholds), symptomatic patients (random glucose)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8849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Management of Diabetes Mellitus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9265" y="969461"/>
            <a:ext cx="5102941" cy="3908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NON-PHARMACOLOGICAL MANAGEMENT</a:t>
            </a:r>
          </a:p>
          <a:p>
            <a:pPr>
              <a:defRPr sz="1100"/>
            </a:pPr>
            <a:r>
              <a:rPr sz="2400" dirty="0"/>
              <a:t>• Diabetes Self-Management Education (DSME)</a:t>
            </a:r>
          </a:p>
          <a:p>
            <a:pPr>
              <a:defRPr sz="1100"/>
            </a:pPr>
            <a:r>
              <a:rPr sz="2400" dirty="0"/>
              <a:t>• Medical Nutrition Therapy (MNT)</a:t>
            </a:r>
          </a:p>
          <a:p>
            <a:pPr>
              <a:defRPr sz="1100"/>
            </a:pPr>
            <a:r>
              <a:rPr sz="2400" dirty="0"/>
              <a:t>• Physical Activity (150 min/week)</a:t>
            </a:r>
          </a:p>
          <a:p>
            <a:pPr>
              <a:defRPr sz="1100"/>
            </a:pPr>
            <a:r>
              <a:rPr sz="2400" dirty="0"/>
              <a:t>• Weight Management (5-10% weight loss)</a:t>
            </a:r>
          </a:p>
          <a:p>
            <a:pPr>
              <a:defRPr sz="1100"/>
            </a:pPr>
            <a:r>
              <a:rPr sz="2400" dirty="0"/>
              <a:t>• Smoking Cessation</a:t>
            </a:r>
          </a:p>
          <a:p>
            <a:pPr>
              <a:defRPr sz="1100"/>
            </a:pPr>
            <a:r>
              <a:rPr sz="2400" dirty="0"/>
              <a:t>• Problem Solving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032090" y="969461"/>
            <a:ext cx="5660203" cy="3847207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PHARMACOLOGICAL MANAGEMENT</a:t>
            </a:r>
          </a:p>
          <a:p>
            <a:pPr>
              <a:defRPr sz="1100"/>
            </a:pPr>
            <a:r>
              <a:rPr sz="2400" dirty="0"/>
              <a:t>• Metformin: First-line for T2DM</a:t>
            </a:r>
          </a:p>
          <a:p>
            <a:pPr>
              <a:defRPr sz="1100"/>
            </a:pPr>
            <a:r>
              <a:rPr sz="2400" dirty="0"/>
              <a:t>• SGLT2i: CV and renal benefits (empagliflozin)</a:t>
            </a:r>
          </a:p>
          <a:p>
            <a:pPr>
              <a:defRPr sz="1100"/>
            </a:pPr>
            <a:r>
              <a:rPr sz="2400" dirty="0"/>
              <a:t>• GLP-1 RA: Weight loss and CV protection (semaglutide)</a:t>
            </a:r>
          </a:p>
          <a:p>
            <a:pPr>
              <a:defRPr sz="1100"/>
            </a:pPr>
            <a:r>
              <a:rPr sz="2400" dirty="0"/>
              <a:t>• DPP-4i: Low hypoglycemia risk (sitagliptin)</a:t>
            </a:r>
          </a:p>
          <a:p>
            <a:pPr>
              <a:defRPr sz="1100"/>
            </a:pPr>
            <a:r>
              <a:rPr sz="2400" dirty="0"/>
              <a:t>• Insulin: Essential for T1DM, progressive T2DM</a:t>
            </a:r>
          </a:p>
          <a:p>
            <a:pPr>
              <a:defRPr sz="1100"/>
            </a:pPr>
            <a:r>
              <a:rPr sz="2400" dirty="0"/>
              <a:t>• TZDs: Insulin sensitizers (pioglitazone)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11277" y="5411900"/>
            <a:ext cx="11041626" cy="1200329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/>
              <a:t>INSULIN THERAPY: Basal (long-acting) + Bolus (rapid-acting). </a:t>
            </a:r>
            <a:endParaRPr lang="en-US" sz="2400" dirty="0"/>
          </a:p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/>
              <a:t>Regimens: Basal-bolus, premixed, basal-plus. </a:t>
            </a:r>
            <a:endParaRPr lang="en-US" sz="2400" dirty="0"/>
          </a:p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/>
              <a:t>Individualized based on needs, lifestyle, and response.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2851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ADA Treatment Algorithm for Type 2 Diabetes</a:t>
            </a:r>
          </a:p>
        </p:txBody>
      </p:sp>
      <p:pic>
        <p:nvPicPr>
          <p:cNvPr id="3" name="Picture 2" descr="treatment_algorith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9871" y="663132"/>
            <a:ext cx="10137058" cy="6194868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Glycemic Control Targets (ADA 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9483" y="1097280"/>
            <a:ext cx="4757713" cy="323595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3498DB"/>
                </a:solidFill>
              </a:defRPr>
            </a:pPr>
            <a:r>
              <a:rPr sz="2800" dirty="0"/>
              <a:t>GENERAL TARGETS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HbA1c: &lt;7.0% (most adults)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</a:t>
            </a:r>
            <a:r>
              <a:rPr sz="2400" dirty="0" err="1"/>
              <a:t>Preprandial</a:t>
            </a:r>
            <a:r>
              <a:rPr sz="2400" dirty="0"/>
              <a:t> glucose: 80-130 mg/dL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Peak postprandial: &lt;180 mg/dL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Bedtime glucose: 100-140 mg/dL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TIR (Time in Range): &gt;70%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20465" y="989558"/>
            <a:ext cx="5509041" cy="3451394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 b="1">
                <a:solidFill>
                  <a:srgbClr val="2ECC71"/>
                </a:solidFill>
              </a:defRPr>
            </a:pPr>
            <a:r>
              <a:rPr sz="2800" dirty="0"/>
              <a:t>INDIVIDUALIZED TARGETS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Young patients (&lt;40): HbA1c &lt;6.5-7.0%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Elderly (≥65): HbA1c 7.5-8.0%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Longstanding DM (&gt;10y): More liberal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High CV risk: Stringent control</a:t>
            </a:r>
          </a:p>
          <a:p>
            <a:pPr>
              <a:lnSpc>
                <a:spcPct val="150000"/>
              </a:lnSpc>
              <a:defRPr sz="1600"/>
            </a:pPr>
            <a:r>
              <a:rPr sz="2400" dirty="0"/>
              <a:t>• Frequent hypoglycemia: Relaxed targets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3735" y="5376431"/>
            <a:ext cx="11821351" cy="113877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400">
                <a:solidFill>
                  <a:srgbClr val="2C3E50"/>
                </a:solidFill>
              </a:defRPr>
            </a:pPr>
            <a:r>
              <a:rPr sz="2400" dirty="0"/>
              <a:t>LATEST EVIDENCE (2024): TIR &gt;70% and HbA1c &lt;7% balance benefits vs. hypoglycemia. </a:t>
            </a:r>
            <a:endParaRPr lang="en-US" sz="2400" dirty="0"/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rPr sz="2200" dirty="0"/>
              <a:t>GRADE study: Intensive control (HbA1c &lt;6.5%) prevents complications but increases hypoglycemia. </a:t>
            </a:r>
            <a:endParaRPr lang="en-US" sz="2200" dirty="0"/>
          </a:p>
          <a:p>
            <a:pPr algn="ctr">
              <a:defRPr sz="1400">
                <a:solidFill>
                  <a:srgbClr val="2C3E50"/>
                </a:solidFill>
              </a:defRPr>
            </a:pPr>
            <a:r>
              <a:rPr sz="2200" dirty="0"/>
              <a:t>Personalized targets based on CGM, comorbidities, and patient preferences.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51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Diabetes Monitoring Strategies (2024)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404" y="1105145"/>
            <a:ext cx="3787611" cy="390876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SELF-MONITORING OF BLOOD GLUCOSE</a:t>
            </a:r>
          </a:p>
          <a:p>
            <a:pPr>
              <a:defRPr sz="1100"/>
            </a:pPr>
            <a:r>
              <a:rPr sz="2400" dirty="0"/>
              <a:t>• T2DM oral agents: 1-2x daily</a:t>
            </a:r>
          </a:p>
          <a:p>
            <a:pPr>
              <a:defRPr sz="1100"/>
            </a:pPr>
            <a:r>
              <a:rPr sz="2400" dirty="0"/>
              <a:t>• T2DM on insulin: 2-4x daily</a:t>
            </a:r>
          </a:p>
          <a:p>
            <a:pPr>
              <a:defRPr sz="1100"/>
            </a:pPr>
            <a:r>
              <a:rPr sz="2400" dirty="0"/>
              <a:t>• T1DM: 4-6x daily (basal-bolus)</a:t>
            </a:r>
          </a:p>
          <a:p>
            <a:pPr>
              <a:defRPr sz="1100"/>
            </a:pPr>
            <a:r>
              <a:rPr sz="2400" dirty="0"/>
              <a:t>• Pre/postprandial monitoring</a:t>
            </a:r>
          </a:p>
          <a:p>
            <a:pPr>
              <a:defRPr sz="1100"/>
            </a:pPr>
            <a:r>
              <a:rPr sz="2400" dirty="0"/>
              <a:t>• Pattern recognition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650658" y="1078985"/>
            <a:ext cx="3647768" cy="3970318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9B59B6"/>
                </a:solidFill>
              </a:defRPr>
            </a:pPr>
            <a:r>
              <a:rPr sz="2800" dirty="0"/>
              <a:t>CONTINUOUS GLUCOSE MONITORING</a:t>
            </a:r>
          </a:p>
          <a:p>
            <a:pPr>
              <a:defRPr sz="1100"/>
            </a:pPr>
            <a:r>
              <a:rPr sz="2400" dirty="0"/>
              <a:t>• TIR (&gt;70%): Primary outcome</a:t>
            </a:r>
          </a:p>
          <a:p>
            <a:pPr>
              <a:defRPr sz="1100"/>
            </a:pPr>
            <a:r>
              <a:rPr sz="2400" dirty="0"/>
              <a:t>• TBR (&lt;4%): Minimize hypo</a:t>
            </a:r>
          </a:p>
          <a:p>
            <a:pPr>
              <a:defRPr sz="1100"/>
            </a:pPr>
            <a:r>
              <a:rPr sz="2400" dirty="0"/>
              <a:t>• TAR (&lt;25%): Manage hyper</a:t>
            </a:r>
          </a:p>
          <a:p>
            <a:pPr>
              <a:defRPr sz="1100"/>
            </a:pPr>
            <a:r>
              <a:rPr sz="2400" dirty="0"/>
              <a:t>• AGP analysis</a:t>
            </a:r>
          </a:p>
          <a:p>
            <a:pPr>
              <a:defRPr sz="1100"/>
            </a:pPr>
            <a:r>
              <a:rPr sz="2400" dirty="0"/>
              <a:t>• Real-time vs. intermittent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03226" y="1052842"/>
            <a:ext cx="3313471" cy="4278094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COMPREHENSIVE MONITORING</a:t>
            </a:r>
          </a:p>
          <a:p>
            <a:pPr>
              <a:defRPr sz="1100"/>
            </a:pPr>
            <a:r>
              <a:rPr sz="2400" dirty="0"/>
              <a:t>• HbA1c: Every 3-6 months</a:t>
            </a:r>
          </a:p>
          <a:p>
            <a:pPr>
              <a:defRPr sz="1100"/>
            </a:pPr>
            <a:r>
              <a:rPr sz="2400" dirty="0"/>
              <a:t>• Lipid profile: Annual</a:t>
            </a:r>
          </a:p>
          <a:p>
            <a:pPr>
              <a:defRPr sz="1100"/>
            </a:pPr>
            <a:r>
              <a:rPr sz="2400" dirty="0"/>
              <a:t>• Kidney function: eGFR, ACR</a:t>
            </a:r>
          </a:p>
          <a:p>
            <a:pPr>
              <a:defRPr sz="1100"/>
            </a:pPr>
            <a:r>
              <a:rPr sz="2400" dirty="0"/>
              <a:t>• Eye examination: Annual</a:t>
            </a:r>
          </a:p>
          <a:p>
            <a:pPr>
              <a:defRPr sz="1100"/>
            </a:pPr>
            <a:r>
              <a:rPr sz="2400" dirty="0"/>
              <a:t>• Foot assessment: Annual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0681" y="5637547"/>
            <a:ext cx="10987548" cy="830997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400" dirty="0"/>
              <a:t>2024 ADVANCES: AI-powered CGM with predictive alerts, integrated digital platforms, remote monitoring capabilities, automated insulin delivery systems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51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Diabetes Prevention: Evidence-Based Strategies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5698" y="1073683"/>
            <a:ext cx="4220497" cy="3108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E74C3C"/>
                </a:solidFill>
              </a:defRPr>
            </a:pPr>
            <a:r>
              <a:rPr sz="2800" dirty="0"/>
              <a:t>PRIMARY PREVENTION</a:t>
            </a:r>
          </a:p>
          <a:p>
            <a:r>
              <a:rPr sz="2400" dirty="0"/>
              <a:t>(Prevent Onset)</a:t>
            </a:r>
          </a:p>
          <a:p>
            <a:pPr>
              <a:defRPr sz="1000"/>
            </a:pPr>
            <a:r>
              <a:rPr sz="2400" dirty="0"/>
              <a:t>• Target: High-risk prediabetics</a:t>
            </a:r>
          </a:p>
          <a:p>
            <a:pPr>
              <a:defRPr sz="1000"/>
            </a:pPr>
            <a:r>
              <a:rPr sz="2400" dirty="0"/>
              <a:t>• DPP model: 58% reduction</a:t>
            </a:r>
          </a:p>
          <a:p>
            <a:pPr>
              <a:defRPr sz="1000"/>
            </a:pPr>
            <a:r>
              <a:rPr sz="2400" dirty="0"/>
              <a:t>• </a:t>
            </a:r>
            <a:r>
              <a:rPr sz="2400" dirty="0">
                <a:highlight>
                  <a:srgbClr val="FFFF00"/>
                </a:highlight>
              </a:rPr>
              <a:t>Intensive lifestyle intervention</a:t>
            </a:r>
          </a:p>
          <a:p>
            <a:pPr>
              <a:defRPr sz="1000"/>
            </a:pPr>
            <a:r>
              <a:rPr sz="2400" dirty="0"/>
              <a:t>• 5-7% weight loss</a:t>
            </a:r>
          </a:p>
          <a:p>
            <a:pPr>
              <a:defRPr sz="1000"/>
            </a:pPr>
            <a:r>
              <a:rPr sz="2400" dirty="0"/>
              <a:t>• 150 min/week activity</a:t>
            </a:r>
          </a:p>
          <a:p>
            <a:pPr>
              <a:defRPr sz="1000"/>
            </a:pPr>
            <a:r>
              <a:rPr sz="2400" dirty="0"/>
              <a:t>• Metformin optional (BMI ≥35)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26195" y="1073682"/>
            <a:ext cx="4082846" cy="3108543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F39C12"/>
                </a:solidFill>
              </a:defRPr>
            </a:pPr>
            <a:r>
              <a:rPr sz="2800" dirty="0"/>
              <a:t>SECONDARY PREVENTION</a:t>
            </a:r>
          </a:p>
          <a:p>
            <a:r>
              <a:rPr sz="2400" dirty="0"/>
              <a:t>(Delay Progression)</a:t>
            </a:r>
          </a:p>
          <a:p>
            <a:pPr>
              <a:defRPr sz="1000"/>
            </a:pPr>
            <a:r>
              <a:rPr sz="2400" dirty="0"/>
              <a:t>• Prediabetes management</a:t>
            </a:r>
          </a:p>
          <a:p>
            <a:pPr>
              <a:defRPr sz="1000"/>
            </a:pPr>
            <a:r>
              <a:rPr sz="2400" dirty="0"/>
              <a:t>• IFG: 100-125 mg/dL</a:t>
            </a:r>
          </a:p>
          <a:p>
            <a:pPr>
              <a:defRPr sz="1000"/>
            </a:pPr>
            <a:r>
              <a:rPr sz="2400" dirty="0"/>
              <a:t>• IGT: 140-199 mg/dL (2h)</a:t>
            </a:r>
          </a:p>
          <a:p>
            <a:pPr>
              <a:defRPr sz="1000"/>
            </a:pPr>
            <a:r>
              <a:rPr sz="2400" dirty="0"/>
              <a:t>• Lifestyle first-line</a:t>
            </a:r>
          </a:p>
          <a:p>
            <a:pPr>
              <a:defRPr sz="1000"/>
            </a:pPr>
            <a:r>
              <a:rPr sz="2400" dirty="0"/>
              <a:t>• Metformin if BMI ≥35</a:t>
            </a:r>
          </a:p>
          <a:p>
            <a:pPr>
              <a:defRPr sz="1000"/>
            </a:pPr>
            <a:r>
              <a:rPr sz="2400" dirty="0"/>
              <a:t>• Annual monitoring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26247" y="1073683"/>
            <a:ext cx="3677264" cy="3108543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7AE60"/>
                </a:solidFill>
              </a:defRPr>
            </a:pPr>
            <a:r>
              <a:rPr sz="2800" dirty="0"/>
              <a:t>TERTIARY PREVENTION</a:t>
            </a:r>
          </a:p>
          <a:p>
            <a:r>
              <a:rPr sz="2400" dirty="0"/>
              <a:t>(Prevent Complications)</a:t>
            </a:r>
          </a:p>
          <a:p>
            <a:pPr>
              <a:defRPr sz="1000"/>
            </a:pPr>
            <a:r>
              <a:rPr sz="2400" dirty="0"/>
              <a:t>• Established diabetes</a:t>
            </a:r>
          </a:p>
          <a:p>
            <a:pPr>
              <a:defRPr sz="1000"/>
            </a:pPr>
            <a:r>
              <a:rPr sz="2400" dirty="0"/>
              <a:t>• Optimal glycemic control</a:t>
            </a:r>
          </a:p>
          <a:p>
            <a:pPr>
              <a:defRPr sz="1000"/>
            </a:pPr>
            <a:r>
              <a:rPr sz="2400" dirty="0"/>
              <a:t>• Complication screening</a:t>
            </a:r>
          </a:p>
          <a:p>
            <a:pPr>
              <a:defRPr sz="1000"/>
            </a:pPr>
            <a:r>
              <a:rPr sz="2400" dirty="0"/>
              <a:t>• CV risk management</a:t>
            </a:r>
          </a:p>
          <a:p>
            <a:pPr>
              <a:defRPr sz="1000"/>
            </a:pPr>
            <a:r>
              <a:rPr sz="2400" dirty="0"/>
              <a:t>• Multidisciplinary care</a:t>
            </a:r>
          </a:p>
          <a:p>
            <a:pPr>
              <a:defRPr sz="1000"/>
            </a:pPr>
            <a:r>
              <a:rPr sz="2400" dirty="0"/>
              <a:t>• Lifestyle reinforcement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47902" y="4637841"/>
            <a:ext cx="8239431" cy="189128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200" b="1">
                <a:solidFill>
                  <a:srgbClr val="2C3E50"/>
                </a:solidFill>
              </a:defRPr>
            </a:pPr>
            <a:r>
              <a:rPr sz="2000" dirty="0"/>
              <a:t>EVIDENCE: 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000" dirty="0"/>
              <a:t>DPP trial</a:t>
            </a:r>
            <a:r>
              <a:rPr lang="en-US" sz="2000" dirty="0"/>
              <a:t> (2002) </a:t>
            </a:r>
            <a:r>
              <a:rPr sz="2000" dirty="0"/>
              <a:t>showed 58% diabetes prevention with lifestyle alone. 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000" dirty="0"/>
              <a:t>Da Qing study</a:t>
            </a:r>
            <a:r>
              <a:rPr lang="en-US" sz="2000" dirty="0"/>
              <a:t> (1986)</a:t>
            </a:r>
            <a:r>
              <a:rPr sz="2000" dirty="0"/>
              <a:t>: 46% reduction in China. </a:t>
            </a:r>
            <a:endParaRPr lang="en-US" sz="2000" dirty="0"/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000" dirty="0"/>
              <a:t>Indian DPP study</a:t>
            </a:r>
            <a:r>
              <a:rPr lang="en-US" sz="2000" dirty="0"/>
              <a:t> (2006)</a:t>
            </a:r>
            <a:r>
              <a:rPr sz="2000" dirty="0"/>
              <a:t>: 28.5% reduction with lifestyle intervention.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48179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Diabetes Prevention Decision Flowchart</a:t>
            </a:r>
          </a:p>
        </p:txBody>
      </p:sp>
      <p:pic>
        <p:nvPicPr>
          <p:cNvPr id="3" name="Picture 2" descr="preven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1354" y="838091"/>
            <a:ext cx="9606116" cy="587040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-4422"/>
            <a:ext cx="12188825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2C3E50"/>
                </a:solidFill>
              </a:defRPr>
            </a:pPr>
            <a:r>
              <a:rPr sz="3600" dirty="0"/>
              <a:t>National Programme for Prevention &amp; Control of Diabetes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22960"/>
            <a:ext cx="109678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7F8C8D"/>
                </a:solidFill>
              </a:defRPr>
            </a:pPr>
            <a:r>
              <a:rPr sz="2400" dirty="0"/>
              <a:t>NPCDCS - Ministry of Health &amp; Family Welfare, India (2010-ongoing)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199" y="1483444"/>
            <a:ext cx="5442155" cy="236988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3498DB"/>
                </a:solidFill>
              </a:defRPr>
            </a:pPr>
            <a:r>
              <a:rPr sz="2800" dirty="0"/>
              <a:t>KEY OBJECTIVES</a:t>
            </a:r>
          </a:p>
          <a:p>
            <a:pPr>
              <a:defRPr sz="1100"/>
            </a:pPr>
            <a:r>
              <a:rPr sz="2400" dirty="0"/>
              <a:t>• 25% reduction in premature mortality</a:t>
            </a:r>
          </a:p>
          <a:p>
            <a:pPr>
              <a:defRPr sz="1100"/>
            </a:pPr>
            <a:r>
              <a:rPr sz="2400" dirty="0"/>
              <a:t>• Early diagnosis and treatment</a:t>
            </a:r>
          </a:p>
          <a:p>
            <a:pPr>
              <a:defRPr sz="1100"/>
            </a:pPr>
            <a:r>
              <a:rPr sz="2400" dirty="0"/>
              <a:t>• Health promotion and prevention</a:t>
            </a:r>
          </a:p>
          <a:p>
            <a:pPr>
              <a:defRPr sz="1100"/>
            </a:pPr>
            <a:r>
              <a:rPr sz="2400" dirty="0"/>
              <a:t>• Capacity building of healthcare workers</a:t>
            </a:r>
          </a:p>
          <a:p>
            <a:pPr>
              <a:defRPr sz="1100"/>
            </a:pPr>
            <a:r>
              <a:rPr sz="2400" dirty="0"/>
              <a:t>• Improved quality of life for patients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956856" y="1483444"/>
            <a:ext cx="4774769" cy="273921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PROGRAM COMPONENTS</a:t>
            </a:r>
          </a:p>
          <a:p>
            <a:pPr>
              <a:defRPr sz="1100"/>
            </a:pPr>
            <a:r>
              <a:rPr sz="2400" dirty="0"/>
              <a:t>• NCD clinics at district level</a:t>
            </a:r>
          </a:p>
          <a:p>
            <a:pPr>
              <a:defRPr sz="1100"/>
            </a:pPr>
            <a:r>
              <a:rPr sz="2400" dirty="0"/>
              <a:t>• Population-based screening</a:t>
            </a:r>
          </a:p>
          <a:p>
            <a:pPr>
              <a:defRPr sz="1100"/>
            </a:pPr>
            <a:r>
              <a:rPr sz="2400" dirty="0"/>
              <a:t>• Free diagnostic services</a:t>
            </a:r>
          </a:p>
          <a:p>
            <a:pPr>
              <a:defRPr sz="1100"/>
            </a:pPr>
            <a:r>
              <a:rPr sz="2400" dirty="0"/>
              <a:t>• Drug procurement and distribution</a:t>
            </a:r>
          </a:p>
          <a:p>
            <a:pPr>
              <a:defRPr sz="1100"/>
            </a:pPr>
            <a:r>
              <a:rPr sz="2400" dirty="0"/>
              <a:t>• Health promotion activities</a:t>
            </a:r>
          </a:p>
          <a:p>
            <a:pPr>
              <a:defRPr sz="1100"/>
            </a:pPr>
            <a:r>
              <a:rPr sz="2400" dirty="0"/>
              <a:t>• Training and IEC activities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5355" y="5374556"/>
            <a:ext cx="11223523" cy="132343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2C3E50"/>
                </a:solidFill>
              </a:defRPr>
            </a:pPr>
            <a:r>
              <a:rPr sz="2000" dirty="0"/>
              <a:t>IMPLEMENTATION: Multi-tier approach (National-State-District-Community). </a:t>
            </a:r>
            <a:endParaRPr lang="en-US" sz="2000" dirty="0"/>
          </a:p>
          <a:p>
            <a:pPr algn="ctr">
              <a:defRPr sz="1200" b="1">
                <a:solidFill>
                  <a:srgbClr val="2C3E50"/>
                </a:solidFill>
              </a:defRPr>
            </a:pPr>
            <a:br>
              <a:rPr lang="en-US" sz="2000" dirty="0"/>
            </a:br>
            <a:r>
              <a:rPr sz="2000" dirty="0"/>
              <a:t>Key achievements: 355 operational NCD clinics, over 4 crore screenings, oral drug distribution to 50 lakh patients. Integration with Ayushman Bharat and health wellness </a:t>
            </a:r>
            <a:r>
              <a:rPr sz="2000" dirty="0" err="1"/>
              <a:t>centres</a:t>
            </a:r>
            <a:r>
              <a:rPr sz="2000" dirty="0"/>
              <a:t>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0" y="2851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NPCDCS Implementation Framework</a:t>
            </a:r>
          </a:p>
        </p:txBody>
      </p:sp>
      <p:pic>
        <p:nvPicPr>
          <p:cNvPr id="3" name="Picture 2" descr="national_program_diagra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9537" y="729227"/>
            <a:ext cx="10028902" cy="6128773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31252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Future Directions in Diabetes Care (2024-2030)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01633" y="1324333"/>
            <a:ext cx="3594864" cy="273921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3498DB"/>
                </a:solidFill>
              </a:defRPr>
            </a:pPr>
            <a:r>
              <a:rPr sz="2800" dirty="0"/>
              <a:t>PRECISION MEDICINE</a:t>
            </a:r>
          </a:p>
          <a:p>
            <a:pPr>
              <a:defRPr sz="1100"/>
            </a:pPr>
            <a:r>
              <a:rPr sz="2400" dirty="0"/>
              <a:t>• Genetic profiling for therapy</a:t>
            </a:r>
          </a:p>
          <a:p>
            <a:pPr>
              <a:defRPr sz="1100"/>
            </a:pPr>
            <a:r>
              <a:rPr sz="2400" dirty="0"/>
              <a:t>• Biomarker development</a:t>
            </a:r>
          </a:p>
          <a:p>
            <a:pPr>
              <a:defRPr sz="1100"/>
            </a:pPr>
            <a:r>
              <a:rPr sz="2400" dirty="0"/>
              <a:t>• Targeted therapies</a:t>
            </a:r>
          </a:p>
          <a:p>
            <a:pPr>
              <a:defRPr sz="1100"/>
            </a:pPr>
            <a:r>
              <a:rPr sz="2400" dirty="0"/>
              <a:t>• Individualized targets</a:t>
            </a:r>
          </a:p>
          <a:p>
            <a:pPr>
              <a:defRPr sz="1100"/>
            </a:pPr>
            <a:r>
              <a:rPr sz="2400" dirty="0"/>
              <a:t>• Pharmacogenomics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317646" y="1330062"/>
            <a:ext cx="3863051" cy="2800767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>
              <a:defRPr sz="1500" b="1">
                <a:solidFill>
                  <a:srgbClr val="9B59B6"/>
                </a:solidFill>
              </a:defRPr>
            </a:pPr>
            <a:r>
              <a:rPr sz="2800" dirty="0"/>
              <a:t>ADVANCED TECHNOLOGIES</a:t>
            </a:r>
          </a:p>
          <a:p>
            <a:pPr>
              <a:defRPr sz="1100"/>
            </a:pPr>
            <a:r>
              <a:rPr sz="2400" dirty="0"/>
              <a:t>• Closed-loop systems</a:t>
            </a:r>
          </a:p>
          <a:p>
            <a:pPr>
              <a:defRPr sz="1100"/>
            </a:pPr>
            <a:r>
              <a:rPr sz="2400" dirty="0"/>
              <a:t>• Stem cell therapy</a:t>
            </a:r>
          </a:p>
          <a:p>
            <a:pPr>
              <a:defRPr sz="1100"/>
            </a:pPr>
            <a:r>
              <a:rPr sz="2400" dirty="0"/>
              <a:t>• Gene therapy (CRISPR)</a:t>
            </a:r>
          </a:p>
          <a:p>
            <a:pPr>
              <a:defRPr sz="1100"/>
            </a:pPr>
            <a:r>
              <a:rPr sz="2400" dirty="0"/>
              <a:t>• AI-driven predictions</a:t>
            </a:r>
          </a:p>
          <a:p>
            <a:pPr>
              <a:defRPr sz="1100"/>
            </a:pPr>
            <a:r>
              <a:rPr sz="2400" dirty="0"/>
              <a:t>• Digital therapeutics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27537" y="1168926"/>
            <a:ext cx="3359655" cy="353943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2ECC71"/>
                </a:solidFill>
              </a:defRPr>
            </a:pPr>
            <a:r>
              <a:rPr sz="2800" dirty="0"/>
              <a:t>HEALTH SYSTEM TRANSFORMATION</a:t>
            </a:r>
          </a:p>
          <a:p>
            <a:pPr>
              <a:defRPr sz="1100"/>
            </a:pPr>
            <a:r>
              <a:rPr sz="2400" dirty="0"/>
              <a:t>• Multidisciplinary teams</a:t>
            </a:r>
          </a:p>
          <a:p>
            <a:pPr>
              <a:defRPr sz="1100"/>
            </a:pPr>
            <a:r>
              <a:rPr sz="2400" dirty="0"/>
              <a:t>• Digital health integration</a:t>
            </a:r>
          </a:p>
          <a:p>
            <a:pPr>
              <a:defRPr sz="1100"/>
            </a:pPr>
            <a:r>
              <a:rPr sz="2400" dirty="0"/>
              <a:t>• Population health approach</a:t>
            </a:r>
          </a:p>
          <a:p>
            <a:pPr>
              <a:defRPr sz="1100"/>
            </a:pPr>
            <a:r>
              <a:rPr sz="2400" dirty="0"/>
              <a:t>• Health economics focus</a:t>
            </a:r>
          </a:p>
          <a:p>
            <a:pPr>
              <a:defRPr sz="1100"/>
            </a:pPr>
            <a:r>
              <a:rPr sz="2400" dirty="0"/>
              <a:t>• Community-based care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3358" y="5819750"/>
            <a:ext cx="11731625" cy="707886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txBody>
          <a:bodyPr wrap="square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000" dirty="0"/>
              <a:t>CHALLENGES: Cost of new technologies, equitable access, workforce training, data privacy.</a:t>
            </a:r>
            <a:endParaRPr lang="en-US" sz="2000" dirty="0"/>
          </a:p>
          <a:p>
            <a:pPr marL="342900" indent="-342900">
              <a:buFont typeface="Arial" panose="020B0604020202020204" pitchFamily="34" charset="0"/>
              <a:buChar char="•"/>
              <a:defRPr sz="1200" b="1">
                <a:solidFill>
                  <a:srgbClr val="2C3E50"/>
                </a:solidFill>
              </a:defRPr>
            </a:pPr>
            <a:r>
              <a:rPr sz="2000" dirty="0"/>
              <a:t>OPPORTUNITIES: Prevention focus shift, AI integration, global collaborations, personalized approaches.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0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 dirty="0"/>
              <a:t>Challenges in Diabetes Control &amp; Prevention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2174" y="1207912"/>
            <a:ext cx="5782237" cy="310854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E74C3C"/>
                </a:solidFill>
              </a:defRPr>
            </a:pPr>
            <a:r>
              <a:rPr sz="2800" dirty="0"/>
              <a:t>KEY CHALLENGES</a:t>
            </a:r>
          </a:p>
          <a:p>
            <a:pPr>
              <a:defRPr sz="1200"/>
            </a:pPr>
            <a:r>
              <a:rPr sz="2400" dirty="0"/>
              <a:t>• Therapeutic inertia (delayed treatment intensification)</a:t>
            </a:r>
          </a:p>
          <a:p>
            <a:pPr>
              <a:defRPr sz="1200"/>
            </a:pPr>
            <a:r>
              <a:rPr sz="2400" dirty="0"/>
              <a:t>• Long-term lifestyle adherence issues</a:t>
            </a:r>
          </a:p>
          <a:p>
            <a:pPr>
              <a:defRPr sz="1200"/>
            </a:pPr>
            <a:r>
              <a:rPr sz="2400" dirty="0"/>
              <a:t>• Hypoglycemia risk with intensive control</a:t>
            </a:r>
          </a:p>
          <a:p>
            <a:pPr>
              <a:defRPr sz="1200"/>
            </a:pPr>
            <a:r>
              <a:rPr sz="2400" dirty="0"/>
              <a:t>• Resource constraints in LMICs</a:t>
            </a:r>
          </a:p>
          <a:p>
            <a:pPr>
              <a:defRPr sz="1200"/>
            </a:pPr>
            <a:r>
              <a:rPr sz="2400" dirty="0"/>
              <a:t>• Cultural and behavioral barriers</a:t>
            </a:r>
          </a:p>
          <a:p>
            <a:pPr>
              <a:defRPr sz="1200"/>
            </a:pPr>
            <a:r>
              <a:rPr sz="2400" dirty="0"/>
              <a:t>• Socioeconomic disparities in access to care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4922" y="1207912"/>
            <a:ext cx="5782237" cy="3108543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27AE60"/>
                </a:solidFill>
              </a:defRPr>
            </a:pPr>
            <a:r>
              <a:rPr sz="2800" dirty="0"/>
              <a:t>STRATEGIC SOLUTIONS</a:t>
            </a:r>
          </a:p>
          <a:p>
            <a:pPr>
              <a:defRPr sz="1200"/>
            </a:pPr>
            <a:r>
              <a:rPr sz="2400" dirty="0"/>
              <a:t>• Treatment algorithm audits and standardization</a:t>
            </a:r>
          </a:p>
          <a:p>
            <a:pPr>
              <a:defRPr sz="1200"/>
            </a:pPr>
            <a:r>
              <a:rPr sz="2400" dirty="0"/>
              <a:t>• Behavioral support and digital health tools</a:t>
            </a:r>
          </a:p>
          <a:p>
            <a:pPr>
              <a:defRPr sz="1200"/>
            </a:pPr>
            <a:r>
              <a:rPr sz="2400" dirty="0"/>
              <a:t>• CGM-guided therapy adjustments</a:t>
            </a:r>
          </a:p>
          <a:p>
            <a:pPr>
              <a:defRPr sz="1200"/>
            </a:pPr>
            <a:r>
              <a:rPr sz="2400" dirty="0"/>
              <a:t>• Task shifting to trained non-physicians</a:t>
            </a:r>
          </a:p>
          <a:p>
            <a:pPr>
              <a:defRPr sz="1200"/>
            </a:pPr>
            <a:r>
              <a:rPr sz="2400" dirty="0"/>
              <a:t>• Culturally adapted health education</a:t>
            </a:r>
          </a:p>
          <a:p>
            <a:pPr>
              <a:defRPr sz="1200"/>
            </a:pPr>
            <a:r>
              <a:rPr sz="2400" dirty="0"/>
              <a:t>• Community-based peer support programs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2394" y="5687126"/>
            <a:ext cx="11354765" cy="707886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C3E50"/>
                </a:solidFill>
              </a:defRPr>
            </a:pPr>
            <a:r>
              <a:rPr sz="2000" dirty="0"/>
              <a:t>MEASURING SUCCESS: Process indicators (screening rates, timely intensification), outcome indicators (HbA1c targets, complication rates), patient-reported outcomes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-1" y="18424"/>
            <a:ext cx="1218882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2C3E50"/>
                </a:solidFill>
              </a:defRPr>
            </a:pPr>
            <a:r>
              <a:rPr sz="4000"/>
              <a:t>Conclusion &amp; 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13911" y="1142596"/>
            <a:ext cx="6276718" cy="4031873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3498DB"/>
                </a:solidFill>
              </a:defRPr>
            </a:pPr>
            <a:r>
              <a:rPr sz="2800" dirty="0"/>
              <a:t>EPIDEMIOLOGY &amp; BURDEN</a:t>
            </a:r>
          </a:p>
          <a:p>
            <a:pPr>
              <a:defRPr sz="1100"/>
            </a:pPr>
            <a:r>
              <a:rPr sz="2000" dirty="0"/>
              <a:t>• 537M adults with diabetes globally, 101M in India</a:t>
            </a:r>
          </a:p>
          <a:p>
            <a:pPr>
              <a:defRPr sz="1100"/>
            </a:pPr>
            <a:r>
              <a:rPr sz="2000" dirty="0"/>
              <a:t>• Projected growth to 783M (2045) and 160M (India)</a:t>
            </a:r>
          </a:p>
          <a:p>
            <a:pPr>
              <a:defRPr sz="1100"/>
            </a:pPr>
            <a:r>
              <a:rPr sz="2000" dirty="0"/>
              <a:t>• South Asia faces highest proportional increase</a:t>
            </a:r>
          </a:p>
          <a:p>
            <a:pPr>
              <a:defRPr sz="1100"/>
            </a:pPr>
            <a:r>
              <a:rPr sz="2000" dirty="0"/>
              <a:t>• LMICs bear disproportionate burden</a:t>
            </a:r>
          </a:p>
          <a:p>
            <a:pPr>
              <a:defRPr sz="1100"/>
            </a:pPr>
            <a:r>
              <a:rPr sz="2000" dirty="0"/>
              <a:t>• Economic cost: $966B globally, INR 2.5-3 lakh </a:t>
            </a:r>
            <a:r>
              <a:rPr sz="2000" dirty="0" err="1"/>
              <a:t>cr</a:t>
            </a:r>
            <a:r>
              <a:rPr sz="2000" dirty="0"/>
              <a:t> in India</a:t>
            </a:r>
          </a:p>
          <a:p>
            <a:pPr>
              <a:defRPr sz="1600" b="1">
                <a:solidFill>
                  <a:srgbClr val="2ECC71"/>
                </a:solidFill>
              </a:defRPr>
            </a:pPr>
            <a:r>
              <a:rPr sz="2800" dirty="0"/>
              <a:t>PATHOGENESIS &amp; CLASSIFICATION</a:t>
            </a:r>
          </a:p>
          <a:p>
            <a:pPr>
              <a:defRPr sz="1100"/>
            </a:pPr>
            <a:r>
              <a:rPr sz="2000" dirty="0"/>
              <a:t>• T2DM: Insulin resistance + β-cell dysfunction</a:t>
            </a:r>
          </a:p>
          <a:p>
            <a:pPr>
              <a:defRPr sz="1100"/>
            </a:pPr>
            <a:r>
              <a:rPr sz="2000" dirty="0"/>
              <a:t>• T1DM: Autoimmune destruction of β-cells</a:t>
            </a:r>
          </a:p>
          <a:p>
            <a:pPr>
              <a:defRPr sz="1100"/>
            </a:pPr>
            <a:r>
              <a:rPr sz="2000" dirty="0"/>
              <a:t>• Prediabetes affects 541M globally</a:t>
            </a:r>
          </a:p>
          <a:p>
            <a:pPr>
              <a:defRPr sz="1100"/>
            </a:pPr>
            <a:r>
              <a:rPr sz="2000" dirty="0"/>
              <a:t>• Genetic-environment interaction crucial</a:t>
            </a:r>
          </a:p>
          <a:p>
            <a:pPr>
              <a:defRPr sz="1100"/>
            </a:pPr>
            <a:r>
              <a:rPr sz="2000" dirty="0"/>
              <a:t>• Early intervention prevents progression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7797" y="5992988"/>
            <a:ext cx="11233230" cy="707886"/>
          </a:xfrm>
          <a:prstGeom prst="rect">
            <a:avLst/>
          </a:prstGeom>
          <a:solidFill>
            <a:schemeClr val="bg2"/>
          </a:solidFill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E74C3C"/>
                </a:solidFill>
              </a:defRPr>
            </a:pPr>
            <a:r>
              <a:rPr sz="2000" dirty="0"/>
              <a:t>CALL TO ACTION: Early screening, intensive lifestyle intervention, comprehensive management, technology adoption, health system strengthening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DC24070-9194-FA10-DEC4-414C2D54C3AE}"/>
              </a:ext>
            </a:extLst>
          </p:cNvPr>
          <p:cNvSpPr txBox="1"/>
          <p:nvPr/>
        </p:nvSpPr>
        <p:spPr>
          <a:xfrm>
            <a:off x="6906228" y="1067978"/>
            <a:ext cx="5096719" cy="4647426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9B59B6"/>
                </a:solidFill>
              </a:defRPr>
            </a:pPr>
            <a:r>
              <a:rPr sz="2800" dirty="0"/>
              <a:t>MANAGEMENT &amp; PREVENTION</a:t>
            </a:r>
          </a:p>
          <a:p>
            <a:pPr>
              <a:defRPr sz="1100"/>
            </a:pPr>
            <a:r>
              <a:rPr sz="2000" dirty="0"/>
              <a:t>• Individualized targets: HbA1c &lt;7% generally</a:t>
            </a:r>
          </a:p>
          <a:p>
            <a:pPr>
              <a:defRPr sz="1100"/>
            </a:pPr>
            <a:r>
              <a:rPr sz="2000" dirty="0"/>
              <a:t>• Metformin first-line, early combination therapy</a:t>
            </a:r>
          </a:p>
          <a:p>
            <a:pPr>
              <a:defRPr sz="1100"/>
            </a:pPr>
            <a:r>
              <a:rPr sz="2000" dirty="0"/>
              <a:t>• CGM/TIR important for personalized control</a:t>
            </a:r>
          </a:p>
          <a:p>
            <a:pPr>
              <a:defRPr sz="1100"/>
            </a:pPr>
            <a:r>
              <a:rPr sz="2000" dirty="0"/>
              <a:t>• DPP lifestyle intervention: 58% prevention</a:t>
            </a:r>
          </a:p>
          <a:p>
            <a:pPr>
              <a:defRPr sz="1100"/>
            </a:pPr>
            <a:r>
              <a:rPr sz="2000" dirty="0"/>
              <a:t>• Multidisciplinary, technology-integrated approach</a:t>
            </a:r>
          </a:p>
          <a:p>
            <a:pPr>
              <a:defRPr sz="1600" b="1">
                <a:solidFill>
                  <a:srgbClr val="2C3E50"/>
                </a:solidFill>
              </a:defRPr>
            </a:pPr>
            <a:r>
              <a:rPr sz="2800" dirty="0"/>
              <a:t>FUTURE DIRECTIONS</a:t>
            </a:r>
          </a:p>
          <a:p>
            <a:pPr>
              <a:defRPr sz="1100"/>
            </a:pPr>
            <a:r>
              <a:rPr sz="2000" dirty="0"/>
              <a:t>• Precision medicine and AI-driven care</a:t>
            </a:r>
          </a:p>
          <a:p>
            <a:pPr>
              <a:defRPr sz="1100"/>
            </a:pPr>
            <a:r>
              <a:rPr sz="2000" dirty="0"/>
              <a:t>• Stem cell and gene therapies</a:t>
            </a:r>
          </a:p>
          <a:p>
            <a:pPr>
              <a:defRPr sz="1100"/>
            </a:pPr>
            <a:r>
              <a:rPr sz="2000" dirty="0"/>
              <a:t>• Closed-loop automated systems</a:t>
            </a:r>
          </a:p>
          <a:p>
            <a:pPr>
              <a:defRPr sz="1100"/>
            </a:pPr>
            <a:r>
              <a:rPr sz="2000" dirty="0"/>
              <a:t>• Population health and prevention focus</a:t>
            </a:r>
          </a:p>
          <a:p>
            <a:pPr>
              <a:defRPr sz="1100"/>
            </a:pPr>
            <a:r>
              <a:rPr sz="2000" dirty="0"/>
              <a:t>• Global collaboration for equitable care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2198</Words>
  <Application>Microsoft Office PowerPoint</Application>
  <PresentationFormat>Custom</PresentationFormat>
  <Paragraphs>364</Paragraphs>
  <Slides>25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Diabetes Mellitus: Epidemiology, Pathophysiology, Management &amp; Prevention</vt:lpstr>
      <vt:lpstr>Learning Objectives</vt:lpstr>
      <vt:lpstr>Comprehensive Diabetes Overview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Dr Siddalingaiah H S</cp:lastModifiedBy>
  <cp:revision>7</cp:revision>
  <dcterms:created xsi:type="dcterms:W3CDTF">2013-01-27T09:14:16Z</dcterms:created>
  <dcterms:modified xsi:type="dcterms:W3CDTF">2025-11-19T09:18:59Z</dcterms:modified>
  <cp:category/>
</cp:coreProperties>
</file>